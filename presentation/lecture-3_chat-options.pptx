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12" r:id="rId1"/>
  </p:sldMasterIdLst>
  <p:sldIdLst>
    <p:sldId id="256" r:id="rId2"/>
    <p:sldId id="257" r:id="rId3"/>
    <p:sldId id="263" r:id="rId4"/>
    <p:sldId id="264" r:id="rId5"/>
    <p:sldId id="262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319"/>
    <p:restoredTop sz="94694"/>
  </p:normalViewPr>
  <p:slideViewPr>
    <p:cSldViewPr snapToGrid="0">
      <p:cViewPr varScale="1">
        <p:scale>
          <a:sx n="100" d="100"/>
          <a:sy n="100" d="100"/>
        </p:scale>
        <p:origin x="280" y="6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9848" y="1298448"/>
            <a:ext cx="7315200" cy="3255264"/>
          </a:xfrm>
        </p:spPr>
        <p:txBody>
          <a:bodyPr anchor="b">
            <a:normAutofit/>
          </a:bodyPr>
          <a:lstStyle>
            <a:lvl1pPr algn="l">
              <a:defRPr sz="5900" spc="-100" baseline="0">
                <a:solidFill>
                  <a:srgbClr val="FFFFFF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15" y="4670246"/>
            <a:ext cx="7315200" cy="914400"/>
          </a:xfrm>
        </p:spPr>
        <p:txBody>
          <a:bodyPr anchor="t">
            <a:normAutofit/>
          </a:bodyPr>
          <a:lstStyle>
            <a:lvl1pPr marL="0" indent="0" algn="l">
              <a:buNone/>
              <a:defRPr sz="2200" cap="none" spc="0" baseline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12/13/25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19990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12/13/25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25765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67912" y="1298448"/>
            <a:ext cx="7315200" cy="3255264"/>
          </a:xfrm>
        </p:spPr>
        <p:txBody>
          <a:bodyPr anchor="b">
            <a:normAutofit/>
          </a:bodyPr>
          <a:lstStyle>
            <a:lvl1pPr>
              <a:defRPr sz="5900" b="0" spc="-1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86200" y="4672584"/>
            <a:ext cx="7315200" cy="914400"/>
          </a:xfrm>
        </p:spPr>
        <p:txBody>
          <a:bodyPr anchor="t">
            <a:normAutofit/>
          </a:bodyPr>
          <a:lstStyle>
            <a:lvl1pPr marL="0" indent="0">
              <a:buNone/>
              <a:defRPr sz="2200" cap="none" spc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12/13/25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29090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67912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18120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12/13/25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62267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7912" y="1023586"/>
            <a:ext cx="3474720" cy="8077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7912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818463" y="1023586"/>
            <a:ext cx="3474720" cy="813171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818463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12/13/25</a:t>
            </a:fld>
            <a:endParaRPr lang="en-US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2653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12/13/25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18995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12/13/25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92357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912" y="868680"/>
            <a:ext cx="731520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4176"/>
            <a:ext cx="2834640" cy="2321990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12/13/25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12300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70644" y="767419"/>
            <a:ext cx="8115230" cy="5330952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3008"/>
            <a:ext cx="2834640" cy="2322576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12/13/25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3499101" y="6356350"/>
            <a:ext cx="5911517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54724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12/13/25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41398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81000" y="990600"/>
            <a:ext cx="2819400" cy="4953000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67912" y="868680"/>
            <a:ext cx="7315200" cy="5120640"/>
          </a:xfrm>
        </p:spPr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12/13/25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20404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58952"/>
            <a:ext cx="3443590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8" name="Rectangle 37"/>
          <p:cNvSpPr/>
          <p:nvPr/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9268" y="864108"/>
            <a:ext cx="7315200" cy="5120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6246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76969C88-B244-455D-A017-012B25B1ACDD}" type="datetimeFigureOut">
              <a:rPr lang="en-US" smtClean="0"/>
              <a:pPr/>
              <a:t>12/13/25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69268" y="6356350"/>
            <a:ext cx="5911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/>
                </a:solidFill>
              </a:defRPr>
            </a:lvl1pPr>
          </a:lstStyle>
          <a:p>
            <a:fld id="{07CE569E-9B7C-4CB9-AB80-C0841F922CF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16773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3" r:id="rId1"/>
    <p:sldLayoutId id="2147483814" r:id="rId2"/>
    <p:sldLayoutId id="2147483815" r:id="rId3"/>
    <p:sldLayoutId id="2147483816" r:id="rId4"/>
    <p:sldLayoutId id="2147483817" r:id="rId5"/>
    <p:sldLayoutId id="2147483818" r:id="rId6"/>
    <p:sldLayoutId id="2147483819" r:id="rId7"/>
    <p:sldLayoutId id="2147483820" r:id="rId8"/>
    <p:sldLayoutId id="2147483821" r:id="rId9"/>
    <p:sldLayoutId id="2147483822" r:id="rId10"/>
    <p:sldLayoutId id="214748382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-60" baseline="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Font typeface="Wingdings 2" pitchFamily="18" charset="2"/>
        <a:buChar char="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riangular abstract background">
            <a:extLst>
              <a:ext uri="{FF2B5EF4-FFF2-40B4-BE49-F238E27FC236}">
                <a16:creationId xmlns:a16="http://schemas.microsoft.com/office/drawing/2014/main" id="{9067DEA7-A679-D953-FF41-C1FD2565F2E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730"/>
          <a:stretch>
            <a:fillRect/>
          </a:stretch>
        </p:blipFill>
        <p:spPr>
          <a:xfrm>
            <a:off x="20" y="264611"/>
            <a:ext cx="12191980" cy="6858001"/>
          </a:xfrm>
          <a:custGeom>
            <a:avLst/>
            <a:gdLst/>
            <a:ahLst/>
            <a:cxnLst/>
            <a:rect l="l" t="t" r="r" b="b"/>
            <a:pathLst>
              <a:path w="12191999" h="6857999">
                <a:moveTo>
                  <a:pt x="0" y="0"/>
                </a:moveTo>
                <a:lnTo>
                  <a:pt x="12191999" y="0"/>
                </a:lnTo>
                <a:lnTo>
                  <a:pt x="12191999" y="6857999"/>
                </a:lnTo>
                <a:lnTo>
                  <a:pt x="4628129" y="6857999"/>
                </a:lnTo>
                <a:lnTo>
                  <a:pt x="4734519" y="6819371"/>
                </a:lnTo>
                <a:cubicBezTo>
                  <a:pt x="4938119" y="6741181"/>
                  <a:pt x="5132935" y="6652933"/>
                  <a:pt x="5315781" y="6551721"/>
                </a:cubicBezTo>
                <a:cubicBezTo>
                  <a:pt x="6619811" y="5830059"/>
                  <a:pt x="6364610" y="4934281"/>
                  <a:pt x="6058656" y="3948664"/>
                </a:cubicBezTo>
                <a:cubicBezTo>
                  <a:pt x="5601502" y="2476708"/>
                  <a:pt x="4958009" y="1222984"/>
                  <a:pt x="2540911" y="827627"/>
                </a:cubicBezTo>
                <a:cubicBezTo>
                  <a:pt x="1760946" y="699982"/>
                  <a:pt x="986522" y="591203"/>
                  <a:pt x="238021" y="541759"/>
                </a:cubicBezTo>
                <a:lnTo>
                  <a:pt x="0" y="529223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065AD47-5479-14E4-B4FD-2FFB235788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407611"/>
            <a:ext cx="9785131" cy="2286000"/>
          </a:xfrm>
        </p:spPr>
        <p:txBody>
          <a:bodyPr>
            <a:normAutofit/>
          </a:bodyPr>
          <a:lstStyle/>
          <a:p>
            <a:pPr algn="l"/>
            <a:r>
              <a:rPr lang="tr-TR" dirty="0">
                <a:solidFill>
                  <a:schemeClr val="accent3">
                    <a:lumMod val="75000"/>
                  </a:schemeClr>
                </a:solidFill>
              </a:rPr>
              <a:t>Gen AI </a:t>
            </a:r>
            <a:r>
              <a:rPr lang="tr-TR" dirty="0" err="1">
                <a:solidFill>
                  <a:schemeClr val="accent3">
                    <a:lumMod val="75000"/>
                  </a:schemeClr>
                </a:solidFill>
              </a:rPr>
              <a:t>with</a:t>
            </a:r>
            <a:r>
              <a:rPr lang="tr-TR" dirty="0">
                <a:solidFill>
                  <a:schemeClr val="accent3">
                    <a:lumMod val="75000"/>
                  </a:schemeClr>
                </a:solidFill>
              </a:rPr>
              <a:t> Java </a:t>
            </a:r>
            <a:r>
              <a:rPr lang="tr-TR" dirty="0" err="1">
                <a:solidFill>
                  <a:schemeClr val="accent3">
                    <a:lumMod val="75000"/>
                  </a:schemeClr>
                </a:solidFill>
              </a:rPr>
              <a:t>and</a:t>
            </a:r>
            <a:r>
              <a:rPr lang="tr-TR" dirty="0">
                <a:solidFill>
                  <a:schemeClr val="accent3">
                    <a:lumMod val="75000"/>
                  </a:schemeClr>
                </a:solidFill>
              </a:rPr>
              <a:t> Spring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367FAE-7EB5-6617-48D0-92BD338C91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8629" y="3766202"/>
            <a:ext cx="4572000" cy="1524000"/>
          </a:xfrm>
        </p:spPr>
        <p:txBody>
          <a:bodyPr anchor="b">
            <a:normAutofit/>
          </a:bodyPr>
          <a:lstStyle/>
          <a:p>
            <a:pPr algn="l"/>
            <a:r>
              <a:rPr lang="tr-TR" dirty="0" err="1">
                <a:latin typeface="Gabriola" pitchFamily="82" charset="0"/>
                <a:cs typeface="Apple Chancery" panose="03020702040506060504" pitchFamily="66" charset="-79"/>
              </a:rPr>
              <a:t>By</a:t>
            </a:r>
            <a:r>
              <a:rPr lang="tr-TR" dirty="0">
                <a:latin typeface="Gabriola" pitchFamily="82" charset="0"/>
                <a:cs typeface="Apple Chancery" panose="03020702040506060504" pitchFamily="66" charset="-79"/>
              </a:rPr>
              <a:t> Ali Gelenler</a:t>
            </a:r>
          </a:p>
        </p:txBody>
      </p:sp>
      <p:pic>
        <p:nvPicPr>
          <p:cNvPr id="5" name="Picture 4" descr="A person smiling for the camera&#10;&#10;Description automatically generated">
            <a:extLst>
              <a:ext uri="{FF2B5EF4-FFF2-40B4-BE49-F238E27FC236}">
                <a16:creationId xmlns:a16="http://schemas.microsoft.com/office/drawing/2014/main" id="{01A85EC1-0397-5B85-A96E-F4002E1AE0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3382" y="4158969"/>
            <a:ext cx="822493" cy="1131233"/>
          </a:xfrm>
          <a:prstGeom prst="rect">
            <a:avLst/>
          </a:prstGeom>
          <a:effectLst>
            <a:glow rad="63500">
              <a:srgbClr val="002060">
                <a:alpha val="40000"/>
              </a:srgbClr>
            </a:glow>
            <a:softEdge rad="50800"/>
          </a:effectLst>
        </p:spPr>
      </p:pic>
    </p:spTree>
    <p:extLst>
      <p:ext uri="{BB962C8B-B14F-4D97-AF65-F5344CB8AC3E}">
        <p14:creationId xmlns:p14="http://schemas.microsoft.com/office/powerpoint/2010/main" val="19921012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riangular abstract background">
            <a:extLst>
              <a:ext uri="{FF2B5EF4-FFF2-40B4-BE49-F238E27FC236}">
                <a16:creationId xmlns:a16="http://schemas.microsoft.com/office/drawing/2014/main" id="{9067DEA7-A679-D953-FF41-C1FD2565F2E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730"/>
          <a:stretch>
            <a:fillRect/>
          </a:stretch>
        </p:blipFill>
        <p:spPr>
          <a:xfrm>
            <a:off x="20" y="264611"/>
            <a:ext cx="12191980" cy="6858001"/>
          </a:xfrm>
          <a:custGeom>
            <a:avLst/>
            <a:gdLst/>
            <a:ahLst/>
            <a:cxnLst/>
            <a:rect l="l" t="t" r="r" b="b"/>
            <a:pathLst>
              <a:path w="12191999" h="6857999">
                <a:moveTo>
                  <a:pt x="0" y="0"/>
                </a:moveTo>
                <a:lnTo>
                  <a:pt x="12191999" y="0"/>
                </a:lnTo>
                <a:lnTo>
                  <a:pt x="12191999" y="6857999"/>
                </a:lnTo>
                <a:lnTo>
                  <a:pt x="4628129" y="6857999"/>
                </a:lnTo>
                <a:lnTo>
                  <a:pt x="4734519" y="6819371"/>
                </a:lnTo>
                <a:cubicBezTo>
                  <a:pt x="4938119" y="6741181"/>
                  <a:pt x="5132935" y="6652933"/>
                  <a:pt x="5315781" y="6551721"/>
                </a:cubicBezTo>
                <a:cubicBezTo>
                  <a:pt x="6619811" y="5830059"/>
                  <a:pt x="6364610" y="4934281"/>
                  <a:pt x="6058656" y="3948664"/>
                </a:cubicBezTo>
                <a:cubicBezTo>
                  <a:pt x="5601502" y="2476708"/>
                  <a:pt x="4958009" y="1222984"/>
                  <a:pt x="2540911" y="827627"/>
                </a:cubicBezTo>
                <a:cubicBezTo>
                  <a:pt x="1760946" y="699982"/>
                  <a:pt x="986522" y="591203"/>
                  <a:pt x="238021" y="541759"/>
                </a:cubicBezTo>
                <a:lnTo>
                  <a:pt x="0" y="529223"/>
                </a:lnTo>
                <a:close/>
              </a:path>
            </a:pathLst>
          </a:custGeom>
        </p:spPr>
      </p:pic>
      <p:sp>
        <p:nvSpPr>
          <p:cNvPr id="10" name="Subtitle 9">
            <a:extLst>
              <a:ext uri="{FF2B5EF4-FFF2-40B4-BE49-F238E27FC236}">
                <a16:creationId xmlns:a16="http://schemas.microsoft.com/office/drawing/2014/main" id="{0042004D-6542-CFF4-3784-78CFA5C0B3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0139" y="1700680"/>
            <a:ext cx="10668000" cy="1328754"/>
          </a:xfrm>
        </p:spPr>
        <p:txBody>
          <a:bodyPr>
            <a:noAutofit/>
          </a:bodyPr>
          <a:lstStyle/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nl-NL" sz="1800" dirty="0">
                <a:solidFill>
                  <a:srgbClr val="002060"/>
                </a:solidFill>
              </a:rPr>
              <a:t>Model name</a:t>
            </a: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nl-NL" sz="1800" dirty="0">
                <a:solidFill>
                  <a:srgbClr val="002060"/>
                </a:solidFill>
                <a:cs typeface="Aharoni" panose="02010803020104030203" pitchFamily="2" charset="-79"/>
              </a:rPr>
              <a:t>Max Tokens: The output tokens/</a:t>
            </a:r>
            <a:r>
              <a:rPr lang="nl-NL" sz="1800" dirty="0" err="1">
                <a:solidFill>
                  <a:srgbClr val="002060"/>
                </a:solidFill>
                <a:cs typeface="Aharoni" panose="02010803020104030203" pitchFamily="2" charset="-79"/>
              </a:rPr>
              <a:t>Completion</a:t>
            </a:r>
            <a:r>
              <a:rPr lang="nl-NL" sz="1800" dirty="0">
                <a:solidFill>
                  <a:srgbClr val="002060"/>
                </a:solidFill>
                <a:cs typeface="Aharoni" panose="02010803020104030203" pitchFamily="2" charset="-79"/>
              </a:rPr>
              <a:t> tokens </a:t>
            </a:r>
            <a:r>
              <a:rPr lang="nl-NL" sz="1800" dirty="0" err="1">
                <a:solidFill>
                  <a:srgbClr val="002060"/>
                </a:solidFill>
                <a:cs typeface="Aharoni" panose="02010803020104030203" pitchFamily="2" charset="-79"/>
              </a:rPr>
              <a:t>returned</a:t>
            </a:r>
            <a:r>
              <a:rPr lang="nl-NL" sz="1800" dirty="0">
                <a:solidFill>
                  <a:srgbClr val="002060"/>
                </a:solidFill>
                <a:cs typeface="Aharoni" panose="02010803020104030203" pitchFamily="2" charset="-79"/>
              </a:rPr>
              <a:t> </a:t>
            </a:r>
            <a:r>
              <a:rPr lang="nl-NL" sz="1800" dirty="0" err="1">
                <a:solidFill>
                  <a:srgbClr val="002060"/>
                </a:solidFill>
                <a:cs typeface="Aharoni" panose="02010803020104030203" pitchFamily="2" charset="-79"/>
              </a:rPr>
              <a:t>from</a:t>
            </a:r>
            <a:r>
              <a:rPr lang="nl-NL" sz="1800" dirty="0">
                <a:solidFill>
                  <a:srgbClr val="002060"/>
                </a:solidFill>
                <a:cs typeface="Aharoni" panose="02010803020104030203" pitchFamily="2" charset="-79"/>
              </a:rPr>
              <a:t> LLM</a:t>
            </a: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nl-NL" sz="1800" dirty="0" err="1">
                <a:solidFill>
                  <a:srgbClr val="002060"/>
                </a:solidFill>
                <a:cs typeface="Aharoni" panose="02010803020104030203" pitchFamily="2" charset="-79"/>
              </a:rPr>
              <a:t>Temperature</a:t>
            </a:r>
            <a:r>
              <a:rPr lang="nl-NL" sz="1800" dirty="0">
                <a:solidFill>
                  <a:srgbClr val="002060"/>
                </a:solidFill>
                <a:cs typeface="Aharoni" panose="02010803020104030203" pitchFamily="2" charset="-79"/>
              </a:rPr>
              <a:t> (0-2): </a:t>
            </a:r>
            <a:r>
              <a:rPr lang="en-GB" sz="1800" dirty="0">
                <a:solidFill>
                  <a:srgbClr val="002060"/>
                </a:solidFill>
              </a:rPr>
              <a:t>Creativity of the response (0 = deterministic, 1+ = more random) – Rescales the logits (pre-</a:t>
            </a:r>
            <a:r>
              <a:rPr lang="en-GB" sz="1800" dirty="0" err="1">
                <a:solidFill>
                  <a:srgbClr val="002060"/>
                </a:solidFill>
              </a:rPr>
              <a:t>softmax</a:t>
            </a:r>
            <a:r>
              <a:rPr lang="en-GB" sz="1800" dirty="0">
                <a:solidFill>
                  <a:srgbClr val="002060"/>
                </a:solidFill>
              </a:rPr>
              <a:t> scores) before probabilities are computed. Affects how </a:t>
            </a:r>
            <a:r>
              <a:rPr lang="en-GB" sz="1800" i="1" dirty="0">
                <a:solidFill>
                  <a:srgbClr val="002060"/>
                </a:solidFill>
              </a:rPr>
              <a:t>flat</a:t>
            </a:r>
            <a:r>
              <a:rPr lang="en-GB" sz="1800" dirty="0">
                <a:solidFill>
                  <a:srgbClr val="002060"/>
                </a:solidFill>
              </a:rPr>
              <a:t> or </a:t>
            </a:r>
            <a:r>
              <a:rPr lang="en-GB" sz="1800" i="1" dirty="0">
                <a:solidFill>
                  <a:srgbClr val="002060"/>
                </a:solidFill>
              </a:rPr>
              <a:t>peaked</a:t>
            </a:r>
            <a:r>
              <a:rPr lang="en-GB" sz="1800" dirty="0">
                <a:solidFill>
                  <a:srgbClr val="002060"/>
                </a:solidFill>
              </a:rPr>
              <a:t> the probability curve becomes</a:t>
            </a:r>
          </a:p>
          <a:p>
            <a:pPr marL="742950" lvl="1" indent="-285750" algn="l">
              <a:buClr>
                <a:schemeClr val="tx1"/>
              </a:buClr>
              <a:buFont typeface="Wingdings" pitchFamily="2" charset="2"/>
              <a:buChar char="Ø"/>
            </a:pPr>
            <a:r>
              <a:rPr lang="tr-TR" sz="1800" dirty="0">
                <a:solidFill>
                  <a:srgbClr val="002060"/>
                </a:solidFill>
                <a:cs typeface="Aharoni" panose="02010803020104030203" pitchFamily="2" charset="-79"/>
              </a:rPr>
              <a:t>       0 -&gt; </a:t>
            </a:r>
            <a:r>
              <a:rPr lang="en-GB" sz="1800" dirty="0">
                <a:solidFill>
                  <a:srgbClr val="002060"/>
                </a:solidFill>
              </a:rPr>
              <a:t>Always picks top token (greedy)</a:t>
            </a:r>
            <a:endParaRPr lang="tr-TR" sz="1800" dirty="0">
              <a:solidFill>
                <a:srgbClr val="002060"/>
              </a:solidFill>
              <a:cs typeface="Aharoni" panose="02010803020104030203" pitchFamily="2" charset="-79"/>
            </a:endParaRPr>
          </a:p>
          <a:p>
            <a:pPr marL="742950" lvl="1" indent="-285750" algn="l">
              <a:buClr>
                <a:schemeClr val="tx1"/>
              </a:buClr>
              <a:buFont typeface="Wingdings" pitchFamily="2" charset="2"/>
              <a:buChar char="Ø"/>
            </a:pPr>
            <a:r>
              <a:rPr lang="tr-TR" sz="1800" dirty="0">
                <a:solidFill>
                  <a:srgbClr val="002060"/>
                </a:solidFill>
                <a:cs typeface="Aharoni" panose="02010803020104030203" pitchFamily="2" charset="-79"/>
              </a:rPr>
              <a:t>       0.2-0.5 -&gt; </a:t>
            </a:r>
            <a:r>
              <a:rPr lang="en-GB" sz="1800" dirty="0">
                <a:solidFill>
                  <a:srgbClr val="002060"/>
                </a:solidFill>
              </a:rPr>
              <a:t>Very focused, factual</a:t>
            </a:r>
            <a:endParaRPr lang="tr-TR" sz="1800" dirty="0">
              <a:solidFill>
                <a:srgbClr val="002060"/>
              </a:solidFill>
              <a:cs typeface="Aharoni" panose="02010803020104030203" pitchFamily="2" charset="-79"/>
            </a:endParaRPr>
          </a:p>
          <a:p>
            <a:pPr marL="742950" lvl="1" indent="-285750" algn="l">
              <a:buClr>
                <a:schemeClr val="tx1"/>
              </a:buClr>
              <a:buFont typeface="Wingdings" pitchFamily="2" charset="2"/>
              <a:buChar char="Ø"/>
            </a:pPr>
            <a:r>
              <a:rPr lang="tr-TR" sz="1800" dirty="0">
                <a:solidFill>
                  <a:srgbClr val="002060"/>
                </a:solidFill>
                <a:cs typeface="Aharoni" panose="02010803020104030203" pitchFamily="2" charset="-79"/>
              </a:rPr>
              <a:t>       1 -&gt; </a:t>
            </a:r>
            <a:r>
              <a:rPr lang="en-GB" sz="1800" dirty="0">
                <a:solidFill>
                  <a:srgbClr val="002060"/>
                </a:solidFill>
              </a:rPr>
              <a:t>Balanced generation</a:t>
            </a:r>
            <a:endParaRPr lang="tr-TR" sz="1800" dirty="0">
              <a:solidFill>
                <a:srgbClr val="002060"/>
              </a:solidFill>
              <a:cs typeface="Aharoni" panose="02010803020104030203" pitchFamily="2" charset="-79"/>
            </a:endParaRPr>
          </a:p>
          <a:p>
            <a:pPr marL="742950" lvl="1" indent="-285750" algn="l">
              <a:buClr>
                <a:schemeClr val="tx1"/>
              </a:buClr>
              <a:buFont typeface="Wingdings" pitchFamily="2" charset="2"/>
              <a:buChar char="Ø"/>
            </a:pPr>
            <a:r>
              <a:rPr lang="tr-TR" sz="1800" dirty="0">
                <a:solidFill>
                  <a:srgbClr val="002060"/>
                </a:solidFill>
                <a:cs typeface="Aharoni" panose="02010803020104030203" pitchFamily="2" charset="-79"/>
              </a:rPr>
              <a:t>       1.5-2 -&gt; </a:t>
            </a:r>
            <a:r>
              <a:rPr lang="en-GB" sz="1800" dirty="0">
                <a:solidFill>
                  <a:srgbClr val="002060"/>
                </a:solidFill>
              </a:rPr>
              <a:t>More creativity, more surprise, less accuracy</a:t>
            </a:r>
            <a:endParaRPr lang="tr-TR" sz="1800" dirty="0">
              <a:solidFill>
                <a:srgbClr val="002060"/>
              </a:solidFill>
              <a:cs typeface="Aharoni" panose="02010803020104030203" pitchFamily="2" charset="-79"/>
            </a:endParaRPr>
          </a:p>
          <a:p>
            <a:pPr marL="742950" lvl="1" indent="-285750" algn="l">
              <a:buClr>
                <a:schemeClr val="tx1"/>
              </a:buClr>
              <a:buFont typeface="Wingdings" pitchFamily="2" charset="2"/>
              <a:buChar char="Ø"/>
            </a:pPr>
            <a:r>
              <a:rPr lang="tr-TR" sz="1800" dirty="0">
                <a:solidFill>
                  <a:srgbClr val="002060"/>
                </a:solidFill>
                <a:cs typeface="Aharoni" panose="02010803020104030203" pitchFamily="2" charset="-79"/>
              </a:rPr>
              <a:t>       2 -&gt; </a:t>
            </a:r>
            <a:r>
              <a:rPr lang="en-GB" sz="1800" dirty="0">
                <a:solidFill>
                  <a:srgbClr val="002060"/>
                </a:solidFill>
              </a:rPr>
              <a:t>Chaotic, sometimes incoherent</a:t>
            </a: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GB" sz="1800" dirty="0">
                <a:solidFill>
                  <a:srgbClr val="002060"/>
                </a:solidFill>
              </a:rPr>
              <a:t>When to use:</a:t>
            </a:r>
          </a:p>
          <a:p>
            <a:pPr marL="742950" lvl="1" indent="-285750" algn="l">
              <a:buClr>
                <a:srgbClr val="002060"/>
              </a:buClr>
              <a:buFont typeface="Wingdings" pitchFamily="2" charset="2"/>
              <a:buChar char="Ø"/>
            </a:pPr>
            <a:r>
              <a:rPr lang="en-GB" sz="1800" dirty="0">
                <a:solidFill>
                  <a:srgbClr val="002060"/>
                </a:solidFill>
              </a:rPr>
              <a:t>Low (0–0.3) → summaries, code, legal/medical text.</a:t>
            </a:r>
          </a:p>
          <a:p>
            <a:pPr marL="742950" lvl="1" indent="-285750" algn="l">
              <a:buClr>
                <a:srgbClr val="002060"/>
              </a:buClr>
              <a:buFont typeface="Wingdings" pitchFamily="2" charset="2"/>
              <a:buChar char="Ø"/>
            </a:pPr>
            <a:r>
              <a:rPr lang="en-GB" sz="1800" dirty="0">
                <a:solidFill>
                  <a:srgbClr val="002060"/>
                </a:solidFill>
              </a:rPr>
              <a:t>Medium (0.7) → balanced Q&amp;A, chatbots.</a:t>
            </a:r>
          </a:p>
          <a:p>
            <a:pPr marL="742950" lvl="1" indent="-285750" algn="l">
              <a:buClr>
                <a:srgbClr val="002060"/>
              </a:buClr>
              <a:buFont typeface="Wingdings" pitchFamily="2" charset="2"/>
              <a:buChar char="Ø"/>
            </a:pPr>
            <a:r>
              <a:rPr lang="en-GB" sz="1800" dirty="0">
                <a:solidFill>
                  <a:srgbClr val="002060"/>
                </a:solidFill>
              </a:rPr>
              <a:t>High (1.0–2.0) → brainstorming, creative writing.</a:t>
            </a:r>
          </a:p>
          <a:p>
            <a:pPr>
              <a:buClr>
                <a:schemeClr val="tx1"/>
              </a:buClr>
            </a:pPr>
            <a:endParaRPr lang="tr-TR" sz="1800" dirty="0">
              <a:solidFill>
                <a:srgbClr val="002060"/>
              </a:solidFill>
              <a:cs typeface="Aharoni" panose="02010803020104030203" pitchFamily="2" charset="-79"/>
            </a:endParaRP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9E031194-A80C-CB30-F1D2-ACB257A30D9A}"/>
              </a:ext>
            </a:extLst>
          </p:cNvPr>
          <p:cNvSpPr txBox="1">
            <a:spLocks/>
          </p:cNvSpPr>
          <p:nvPr/>
        </p:nvSpPr>
        <p:spPr>
          <a:xfrm>
            <a:off x="0" y="-585320"/>
            <a:ext cx="9785131" cy="2286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900" kern="1200" spc="-10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tr-TR" sz="4000" dirty="0">
                <a:solidFill>
                  <a:schemeClr val="accent3">
                    <a:lumMod val="75000"/>
                  </a:schemeClr>
                </a:solidFill>
              </a:rPr>
              <a:t>Chat </a:t>
            </a:r>
            <a:r>
              <a:rPr lang="tr-TR" sz="4000" dirty="0" err="1">
                <a:solidFill>
                  <a:schemeClr val="accent3">
                    <a:lumMod val="75000"/>
                  </a:schemeClr>
                </a:solidFill>
              </a:rPr>
              <a:t>Options</a:t>
            </a:r>
            <a:endParaRPr lang="tr-TR" sz="4000" dirty="0">
              <a:solidFill>
                <a:schemeClr val="accent3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450494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10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10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10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10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10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10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1000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1000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1000"/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1000"/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1000"/>
                                        <p:tgtEl>
                                          <p:spTgt spid="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riangular abstract background">
            <a:extLst>
              <a:ext uri="{FF2B5EF4-FFF2-40B4-BE49-F238E27FC236}">
                <a16:creationId xmlns:a16="http://schemas.microsoft.com/office/drawing/2014/main" id="{9067DEA7-A679-D953-FF41-C1FD2565F2E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730"/>
          <a:stretch>
            <a:fillRect/>
          </a:stretch>
        </p:blipFill>
        <p:spPr>
          <a:xfrm>
            <a:off x="20" y="264611"/>
            <a:ext cx="12191980" cy="6858001"/>
          </a:xfrm>
          <a:custGeom>
            <a:avLst/>
            <a:gdLst/>
            <a:ahLst/>
            <a:cxnLst/>
            <a:rect l="l" t="t" r="r" b="b"/>
            <a:pathLst>
              <a:path w="12191999" h="6857999">
                <a:moveTo>
                  <a:pt x="0" y="0"/>
                </a:moveTo>
                <a:lnTo>
                  <a:pt x="12191999" y="0"/>
                </a:lnTo>
                <a:lnTo>
                  <a:pt x="12191999" y="6857999"/>
                </a:lnTo>
                <a:lnTo>
                  <a:pt x="4628129" y="6857999"/>
                </a:lnTo>
                <a:lnTo>
                  <a:pt x="4734519" y="6819371"/>
                </a:lnTo>
                <a:cubicBezTo>
                  <a:pt x="4938119" y="6741181"/>
                  <a:pt x="5132935" y="6652933"/>
                  <a:pt x="5315781" y="6551721"/>
                </a:cubicBezTo>
                <a:cubicBezTo>
                  <a:pt x="6619811" y="5830059"/>
                  <a:pt x="6364610" y="4934281"/>
                  <a:pt x="6058656" y="3948664"/>
                </a:cubicBezTo>
                <a:cubicBezTo>
                  <a:pt x="5601502" y="2476708"/>
                  <a:pt x="4958009" y="1222984"/>
                  <a:pt x="2540911" y="827627"/>
                </a:cubicBezTo>
                <a:cubicBezTo>
                  <a:pt x="1760946" y="699982"/>
                  <a:pt x="986522" y="591203"/>
                  <a:pt x="238021" y="541759"/>
                </a:cubicBezTo>
                <a:lnTo>
                  <a:pt x="0" y="529223"/>
                </a:lnTo>
                <a:close/>
              </a:path>
            </a:pathLst>
          </a:custGeom>
        </p:spPr>
      </p:pic>
      <p:sp>
        <p:nvSpPr>
          <p:cNvPr id="10" name="Subtitle 9">
            <a:extLst>
              <a:ext uri="{FF2B5EF4-FFF2-40B4-BE49-F238E27FC236}">
                <a16:creationId xmlns:a16="http://schemas.microsoft.com/office/drawing/2014/main" id="{0042004D-6542-CFF4-3784-78CFA5C0B3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0138" y="1700680"/>
            <a:ext cx="11043161" cy="1328754"/>
          </a:xfrm>
        </p:spPr>
        <p:txBody>
          <a:bodyPr>
            <a:noAutofit/>
          </a:bodyPr>
          <a:lstStyle/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nl-NL" sz="1800" dirty="0" err="1">
                <a:solidFill>
                  <a:srgbClr val="002060"/>
                </a:solidFill>
              </a:rPr>
              <a:t>Top_p</a:t>
            </a:r>
            <a:r>
              <a:rPr lang="nl-NL" sz="1800" dirty="0">
                <a:solidFill>
                  <a:srgbClr val="002060"/>
                </a:solidFill>
              </a:rPr>
              <a:t>: </a:t>
            </a:r>
            <a:r>
              <a:rPr lang="nl-NL" sz="1800" dirty="0" err="1">
                <a:solidFill>
                  <a:srgbClr val="002060"/>
                </a:solidFill>
              </a:rPr>
              <a:t>Controlled</a:t>
            </a:r>
            <a:r>
              <a:rPr lang="nl-NL" sz="1800" dirty="0">
                <a:solidFill>
                  <a:srgbClr val="002060"/>
                </a:solidFill>
              </a:rPr>
              <a:t> </a:t>
            </a:r>
            <a:r>
              <a:rPr lang="nl-NL" sz="1800" dirty="0" err="1">
                <a:solidFill>
                  <a:srgbClr val="002060"/>
                </a:solidFill>
              </a:rPr>
              <a:t>randomness</a:t>
            </a:r>
            <a:r>
              <a:rPr lang="nl-NL" sz="1800" dirty="0">
                <a:solidFill>
                  <a:srgbClr val="002060"/>
                </a:solidFill>
              </a:rPr>
              <a:t> </a:t>
            </a:r>
            <a:r>
              <a:rPr lang="nl-NL" sz="1800" dirty="0" err="1">
                <a:solidFill>
                  <a:srgbClr val="002060"/>
                </a:solidFill>
              </a:rPr>
              <a:t>using</a:t>
            </a:r>
            <a:r>
              <a:rPr lang="nl-NL" sz="1800" dirty="0">
                <a:solidFill>
                  <a:srgbClr val="002060"/>
                </a:solidFill>
              </a:rPr>
              <a:t> nucleus sampling</a:t>
            </a:r>
          </a:p>
          <a:p>
            <a:pPr marL="742950" lvl="1" indent="-285750" algn="l">
              <a:buClr>
                <a:schemeClr val="tx1"/>
              </a:buClr>
              <a:buFont typeface="Wingdings" pitchFamily="2" charset="2"/>
              <a:buChar char="Ø"/>
            </a:pPr>
            <a:r>
              <a:rPr lang="nl-NL" sz="1800" dirty="0" err="1">
                <a:solidFill>
                  <a:srgbClr val="002060"/>
                </a:solidFill>
              </a:rPr>
              <a:t>Restrict</a:t>
            </a:r>
            <a:r>
              <a:rPr lang="nl-NL" sz="1800" dirty="0">
                <a:solidFill>
                  <a:srgbClr val="002060"/>
                </a:solidFill>
              </a:rPr>
              <a:t> </a:t>
            </a:r>
            <a:r>
              <a:rPr lang="nl-NL" sz="1800" dirty="0" err="1">
                <a:solidFill>
                  <a:srgbClr val="002060"/>
                </a:solidFill>
              </a:rPr>
              <a:t>the</a:t>
            </a:r>
            <a:r>
              <a:rPr lang="nl-NL" sz="1800" dirty="0">
                <a:solidFill>
                  <a:srgbClr val="002060"/>
                </a:solidFill>
              </a:rPr>
              <a:t> </a:t>
            </a:r>
            <a:r>
              <a:rPr lang="nl-NL" sz="1800" dirty="0" err="1">
                <a:solidFill>
                  <a:srgbClr val="002060"/>
                </a:solidFill>
              </a:rPr>
              <a:t>probability</a:t>
            </a:r>
            <a:r>
              <a:rPr lang="nl-NL" sz="1800" dirty="0">
                <a:solidFill>
                  <a:srgbClr val="002060"/>
                </a:solidFill>
              </a:rPr>
              <a:t> </a:t>
            </a:r>
            <a:r>
              <a:rPr lang="nl-NL" sz="1800" dirty="0" err="1">
                <a:solidFill>
                  <a:srgbClr val="002060"/>
                </a:solidFill>
              </a:rPr>
              <a:t>mass</a:t>
            </a:r>
            <a:r>
              <a:rPr lang="nl-NL" sz="1800" dirty="0">
                <a:solidFill>
                  <a:srgbClr val="002060"/>
                </a:solidFill>
              </a:rPr>
              <a:t> </a:t>
            </a:r>
            <a:r>
              <a:rPr lang="nl-NL" sz="1800" dirty="0" err="1">
                <a:solidFill>
                  <a:srgbClr val="002060"/>
                </a:solidFill>
              </a:rPr>
              <a:t>by</a:t>
            </a:r>
            <a:r>
              <a:rPr lang="nl-NL" sz="1800" dirty="0">
                <a:solidFill>
                  <a:srgbClr val="002060"/>
                </a:solidFill>
              </a:rPr>
              <a:t> </a:t>
            </a:r>
            <a:r>
              <a:rPr lang="nl-NL" sz="1800" dirty="0" err="1">
                <a:solidFill>
                  <a:srgbClr val="002060"/>
                </a:solidFill>
              </a:rPr>
              <a:t>considering</a:t>
            </a:r>
            <a:r>
              <a:rPr lang="nl-NL" sz="1800" dirty="0">
                <a:solidFill>
                  <a:srgbClr val="002060"/>
                </a:solidFill>
              </a:rPr>
              <a:t> token </a:t>
            </a:r>
            <a:r>
              <a:rPr lang="nl-NL" sz="1800" dirty="0" err="1">
                <a:solidFill>
                  <a:srgbClr val="002060"/>
                </a:solidFill>
              </a:rPr>
              <a:t>whose</a:t>
            </a:r>
            <a:r>
              <a:rPr lang="nl-NL" sz="1800" dirty="0">
                <a:solidFill>
                  <a:srgbClr val="002060"/>
                </a:solidFill>
              </a:rPr>
              <a:t> </a:t>
            </a:r>
            <a:r>
              <a:rPr lang="nl-NL" sz="1800" dirty="0" err="1">
                <a:solidFill>
                  <a:srgbClr val="002060"/>
                </a:solidFill>
              </a:rPr>
              <a:t>cumulative</a:t>
            </a:r>
            <a:r>
              <a:rPr lang="nl-NL" sz="1800" dirty="0">
                <a:solidFill>
                  <a:srgbClr val="002060"/>
                </a:solidFill>
              </a:rPr>
              <a:t> </a:t>
            </a:r>
            <a:r>
              <a:rPr lang="nl-NL" sz="1800" dirty="0" err="1">
                <a:solidFill>
                  <a:srgbClr val="002060"/>
                </a:solidFill>
              </a:rPr>
              <a:t>probability</a:t>
            </a:r>
            <a:r>
              <a:rPr lang="nl-NL" sz="1800" dirty="0">
                <a:solidFill>
                  <a:srgbClr val="002060"/>
                </a:solidFill>
              </a:rPr>
              <a:t> </a:t>
            </a:r>
            <a:r>
              <a:rPr lang="nl-NL" sz="1800" dirty="0" err="1">
                <a:solidFill>
                  <a:srgbClr val="002060"/>
                </a:solidFill>
              </a:rPr>
              <a:t>adds</a:t>
            </a:r>
            <a:r>
              <a:rPr lang="nl-NL" sz="1800" dirty="0">
                <a:solidFill>
                  <a:srgbClr val="002060"/>
                </a:solidFill>
              </a:rPr>
              <a:t> up </a:t>
            </a:r>
            <a:r>
              <a:rPr lang="nl-NL" sz="1800" dirty="0" err="1">
                <a:solidFill>
                  <a:srgbClr val="002060"/>
                </a:solidFill>
              </a:rPr>
              <a:t>to</a:t>
            </a:r>
            <a:r>
              <a:rPr lang="nl-NL" sz="1800" dirty="0">
                <a:solidFill>
                  <a:srgbClr val="002060"/>
                </a:solidFill>
              </a:rPr>
              <a:t> a percentage</a:t>
            </a: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tr-TR" sz="1800" dirty="0">
                <a:solidFill>
                  <a:srgbClr val="002060"/>
                </a:solidFill>
                <a:cs typeface="Aharoni" panose="02010803020104030203" pitchFamily="2" charset="-79"/>
              </a:rPr>
              <a:t>Top-k: </a:t>
            </a:r>
            <a:r>
              <a:rPr lang="tr-TR" sz="1800" dirty="0" err="1">
                <a:solidFill>
                  <a:srgbClr val="002060"/>
                </a:solidFill>
                <a:cs typeface="Aharoni" panose="02010803020104030203" pitchFamily="2" charset="-79"/>
              </a:rPr>
              <a:t>Consider</a:t>
            </a:r>
            <a:r>
              <a:rPr lang="tr-TR" sz="1800" dirty="0">
                <a:solidFill>
                  <a:srgbClr val="002060"/>
                </a:solidFill>
                <a:cs typeface="Aharoni" panose="02010803020104030203" pitchFamily="2" charset="-79"/>
              </a:rPr>
              <a:t> top-K </a:t>
            </a:r>
            <a:r>
              <a:rPr lang="tr-TR" sz="1800" dirty="0" err="1">
                <a:solidFill>
                  <a:srgbClr val="002060"/>
                </a:solidFill>
                <a:cs typeface="Aharoni" panose="02010803020104030203" pitchFamily="2" charset="-79"/>
              </a:rPr>
              <a:t>most</a:t>
            </a:r>
            <a:r>
              <a:rPr lang="tr-TR" sz="1800" dirty="0">
                <a:solidFill>
                  <a:srgbClr val="002060"/>
                </a:solidFill>
                <a:cs typeface="Aharoni" panose="02010803020104030203" pitchFamily="2" charset="-79"/>
              </a:rPr>
              <a:t> </a:t>
            </a:r>
            <a:r>
              <a:rPr lang="tr-TR" sz="1800" dirty="0" err="1">
                <a:solidFill>
                  <a:srgbClr val="002060"/>
                </a:solidFill>
                <a:cs typeface="Aharoni" panose="02010803020104030203" pitchFamily="2" charset="-79"/>
              </a:rPr>
              <a:t>likely</a:t>
            </a:r>
            <a:r>
              <a:rPr lang="tr-TR" sz="1800" dirty="0">
                <a:solidFill>
                  <a:srgbClr val="002060"/>
                </a:solidFill>
                <a:cs typeface="Aharoni" panose="02010803020104030203" pitchFamily="2" charset="-79"/>
              </a:rPr>
              <a:t> </a:t>
            </a:r>
            <a:r>
              <a:rPr lang="tr-TR" sz="1800" dirty="0" err="1">
                <a:solidFill>
                  <a:srgbClr val="002060"/>
                </a:solidFill>
                <a:cs typeface="Aharoni" panose="02010803020104030203" pitchFamily="2" charset="-79"/>
              </a:rPr>
              <a:t>tokens</a:t>
            </a:r>
            <a:r>
              <a:rPr lang="tr-TR" sz="1800" dirty="0">
                <a:solidFill>
                  <a:srgbClr val="002060"/>
                </a:solidFill>
                <a:cs typeface="Aharoni" panose="02010803020104030203" pitchFamily="2" charset="-79"/>
              </a:rPr>
              <a:t>:</a:t>
            </a:r>
          </a:p>
          <a:p>
            <a:pPr marL="742950" lvl="1" indent="-285750" algn="l">
              <a:buClr>
                <a:schemeClr val="tx1"/>
              </a:buClr>
              <a:buFont typeface="Wingdings" pitchFamily="2" charset="2"/>
              <a:buChar char="Ø"/>
            </a:pPr>
            <a:r>
              <a:rPr lang="tr-TR" sz="1800" dirty="0" err="1">
                <a:solidFill>
                  <a:srgbClr val="002060"/>
                </a:solidFill>
                <a:cs typeface="Aharoni" panose="02010803020104030203" pitchFamily="2" charset="-79"/>
              </a:rPr>
              <a:t>Higher</a:t>
            </a:r>
            <a:r>
              <a:rPr lang="tr-TR" sz="1800" dirty="0">
                <a:solidFill>
                  <a:srgbClr val="002060"/>
                </a:solidFill>
                <a:cs typeface="Aharoni" panose="02010803020104030203" pitchFamily="2" charset="-79"/>
              </a:rPr>
              <a:t> top-k </a:t>
            </a:r>
            <a:r>
              <a:rPr lang="tr-TR" sz="1800" dirty="0" err="1">
                <a:solidFill>
                  <a:srgbClr val="002060"/>
                </a:solidFill>
                <a:cs typeface="Aharoni" panose="02010803020104030203" pitchFamily="2" charset="-79"/>
              </a:rPr>
              <a:t>higher</a:t>
            </a:r>
            <a:r>
              <a:rPr lang="tr-TR" sz="1800" dirty="0">
                <a:solidFill>
                  <a:srgbClr val="002060"/>
                </a:solidFill>
                <a:cs typeface="Aharoni" panose="02010803020104030203" pitchFamily="2" charset="-79"/>
              </a:rPr>
              <a:t> </a:t>
            </a:r>
            <a:r>
              <a:rPr lang="tr-TR" sz="1800" dirty="0" err="1">
                <a:solidFill>
                  <a:srgbClr val="002060"/>
                </a:solidFill>
                <a:cs typeface="Aharoni" panose="02010803020104030203" pitchFamily="2" charset="-79"/>
              </a:rPr>
              <a:t>randomness</a:t>
            </a:r>
            <a:endParaRPr lang="tr-TR" sz="1800" dirty="0">
              <a:solidFill>
                <a:srgbClr val="002060"/>
              </a:solidFill>
              <a:cs typeface="Aharoni" panose="02010803020104030203" pitchFamily="2" charset="-79"/>
            </a:endParaRP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9E031194-A80C-CB30-F1D2-ACB257A30D9A}"/>
              </a:ext>
            </a:extLst>
          </p:cNvPr>
          <p:cNvSpPr txBox="1">
            <a:spLocks/>
          </p:cNvSpPr>
          <p:nvPr/>
        </p:nvSpPr>
        <p:spPr>
          <a:xfrm>
            <a:off x="0" y="-585320"/>
            <a:ext cx="9785131" cy="2286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900" kern="1200" spc="-10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tr-TR" sz="4000" dirty="0">
                <a:solidFill>
                  <a:schemeClr val="accent3">
                    <a:lumMod val="75000"/>
                  </a:schemeClr>
                </a:solidFill>
              </a:rPr>
              <a:t>Chat </a:t>
            </a:r>
            <a:r>
              <a:rPr lang="tr-TR" sz="4000" dirty="0" err="1">
                <a:solidFill>
                  <a:schemeClr val="accent3">
                    <a:lumMod val="75000"/>
                  </a:schemeClr>
                </a:solidFill>
              </a:rPr>
              <a:t>Options</a:t>
            </a:r>
            <a:endParaRPr lang="tr-TR" sz="4000" dirty="0">
              <a:solidFill>
                <a:schemeClr val="accent3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540066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10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10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10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riangular abstract background">
            <a:extLst>
              <a:ext uri="{FF2B5EF4-FFF2-40B4-BE49-F238E27FC236}">
                <a16:creationId xmlns:a16="http://schemas.microsoft.com/office/drawing/2014/main" id="{9067DEA7-A679-D953-FF41-C1FD2565F2E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730"/>
          <a:stretch>
            <a:fillRect/>
          </a:stretch>
        </p:blipFill>
        <p:spPr>
          <a:xfrm>
            <a:off x="20" y="264611"/>
            <a:ext cx="12191980" cy="6858001"/>
          </a:xfrm>
          <a:custGeom>
            <a:avLst/>
            <a:gdLst/>
            <a:ahLst/>
            <a:cxnLst/>
            <a:rect l="l" t="t" r="r" b="b"/>
            <a:pathLst>
              <a:path w="12191999" h="6857999">
                <a:moveTo>
                  <a:pt x="0" y="0"/>
                </a:moveTo>
                <a:lnTo>
                  <a:pt x="12191999" y="0"/>
                </a:lnTo>
                <a:lnTo>
                  <a:pt x="12191999" y="6857999"/>
                </a:lnTo>
                <a:lnTo>
                  <a:pt x="4628129" y="6857999"/>
                </a:lnTo>
                <a:lnTo>
                  <a:pt x="4734519" y="6819371"/>
                </a:lnTo>
                <a:cubicBezTo>
                  <a:pt x="4938119" y="6741181"/>
                  <a:pt x="5132935" y="6652933"/>
                  <a:pt x="5315781" y="6551721"/>
                </a:cubicBezTo>
                <a:cubicBezTo>
                  <a:pt x="6619811" y="5830059"/>
                  <a:pt x="6364610" y="4934281"/>
                  <a:pt x="6058656" y="3948664"/>
                </a:cubicBezTo>
                <a:cubicBezTo>
                  <a:pt x="5601502" y="2476708"/>
                  <a:pt x="4958009" y="1222984"/>
                  <a:pt x="2540911" y="827627"/>
                </a:cubicBezTo>
                <a:cubicBezTo>
                  <a:pt x="1760946" y="699982"/>
                  <a:pt x="986522" y="591203"/>
                  <a:pt x="238021" y="541759"/>
                </a:cubicBezTo>
                <a:lnTo>
                  <a:pt x="0" y="529223"/>
                </a:lnTo>
                <a:close/>
              </a:path>
            </a:pathLst>
          </a:custGeom>
        </p:spPr>
      </p:pic>
      <p:sp>
        <p:nvSpPr>
          <p:cNvPr id="10" name="Subtitle 9">
            <a:extLst>
              <a:ext uri="{FF2B5EF4-FFF2-40B4-BE49-F238E27FC236}">
                <a16:creationId xmlns:a16="http://schemas.microsoft.com/office/drawing/2014/main" id="{0042004D-6542-CFF4-3784-78CFA5C0B3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0138" y="1886234"/>
            <a:ext cx="11043161" cy="1328754"/>
          </a:xfrm>
        </p:spPr>
        <p:txBody>
          <a:bodyPr>
            <a:noAutofit/>
          </a:bodyPr>
          <a:lstStyle/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nl-NL" sz="1800" dirty="0" err="1">
                <a:solidFill>
                  <a:srgbClr val="002060"/>
                </a:solidFill>
              </a:rPr>
              <a:t>Frequency</a:t>
            </a:r>
            <a:r>
              <a:rPr lang="nl-NL" sz="1800" dirty="0">
                <a:solidFill>
                  <a:srgbClr val="002060"/>
                </a:solidFill>
              </a:rPr>
              <a:t> Penalty:</a:t>
            </a:r>
          </a:p>
          <a:p>
            <a:pPr marL="742950" lvl="1" indent="-285750" algn="l">
              <a:buClr>
                <a:schemeClr val="tx1"/>
              </a:buClr>
              <a:buFont typeface="Wingdings" pitchFamily="2" charset="2"/>
              <a:buChar char="Ø"/>
            </a:pPr>
            <a:r>
              <a:rPr lang="nl-NL" sz="1800" dirty="0" err="1">
                <a:solidFill>
                  <a:srgbClr val="002060"/>
                </a:solidFill>
                <a:cs typeface="Aharoni" panose="02010803020104030203" pitchFamily="2" charset="-79"/>
              </a:rPr>
              <a:t>Reduces</a:t>
            </a:r>
            <a:r>
              <a:rPr lang="nl-NL" sz="1800" dirty="0">
                <a:solidFill>
                  <a:srgbClr val="002060"/>
                </a:solidFill>
                <a:cs typeface="Aharoni" panose="02010803020104030203" pitchFamily="2" charset="-79"/>
              </a:rPr>
              <a:t> </a:t>
            </a:r>
            <a:r>
              <a:rPr lang="nl-NL" sz="1800" dirty="0" err="1">
                <a:solidFill>
                  <a:srgbClr val="002060"/>
                </a:solidFill>
                <a:cs typeface="Aharoni" panose="02010803020104030203" pitchFamily="2" charset="-79"/>
              </a:rPr>
              <a:t>repetition</a:t>
            </a:r>
            <a:endParaRPr lang="nl-NL" sz="1800" dirty="0">
              <a:solidFill>
                <a:srgbClr val="002060"/>
              </a:solidFill>
              <a:cs typeface="Aharoni" panose="02010803020104030203" pitchFamily="2" charset="-79"/>
            </a:endParaRP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nl-NL" sz="1800" dirty="0" err="1">
                <a:solidFill>
                  <a:srgbClr val="002060"/>
                </a:solidFill>
                <a:cs typeface="Aharoni" panose="02010803020104030203" pitchFamily="2" charset="-79"/>
              </a:rPr>
              <a:t>Precense</a:t>
            </a:r>
            <a:r>
              <a:rPr lang="nl-NL" sz="1800" dirty="0">
                <a:solidFill>
                  <a:srgbClr val="002060"/>
                </a:solidFill>
                <a:cs typeface="Aharoni" panose="02010803020104030203" pitchFamily="2" charset="-79"/>
              </a:rPr>
              <a:t> Penalty:</a:t>
            </a:r>
          </a:p>
          <a:p>
            <a:pPr marL="742950" lvl="1" indent="-285750" algn="l">
              <a:buClr>
                <a:schemeClr val="tx1"/>
              </a:buClr>
              <a:buFont typeface="Wingdings" pitchFamily="2" charset="2"/>
              <a:buChar char="Ø"/>
            </a:pPr>
            <a:r>
              <a:rPr lang="nl-NL" sz="1800" dirty="0" err="1">
                <a:solidFill>
                  <a:srgbClr val="002060"/>
                </a:solidFill>
                <a:cs typeface="Aharoni" panose="02010803020104030203" pitchFamily="2" charset="-79"/>
              </a:rPr>
              <a:t>Encourages</a:t>
            </a:r>
            <a:r>
              <a:rPr lang="nl-NL" sz="1800" dirty="0">
                <a:solidFill>
                  <a:srgbClr val="002060"/>
                </a:solidFill>
                <a:cs typeface="Aharoni" panose="02010803020104030203" pitchFamily="2" charset="-79"/>
              </a:rPr>
              <a:t> </a:t>
            </a:r>
            <a:r>
              <a:rPr lang="nl-NL" sz="1800" dirty="0" err="1">
                <a:solidFill>
                  <a:srgbClr val="002060"/>
                </a:solidFill>
                <a:cs typeface="Aharoni" panose="02010803020104030203" pitchFamily="2" charset="-79"/>
              </a:rPr>
              <a:t>mentioning</a:t>
            </a:r>
            <a:r>
              <a:rPr lang="nl-NL" sz="1800" dirty="0">
                <a:solidFill>
                  <a:srgbClr val="002060"/>
                </a:solidFill>
                <a:cs typeface="Aharoni" panose="02010803020104030203" pitchFamily="2" charset="-79"/>
              </a:rPr>
              <a:t> new topics</a:t>
            </a: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nl-NL" sz="1800" dirty="0">
                <a:solidFill>
                  <a:srgbClr val="002060"/>
                </a:solidFill>
                <a:cs typeface="Aharoni" panose="02010803020104030203" pitchFamily="2" charset="-79"/>
              </a:rPr>
              <a:t>Stop </a:t>
            </a:r>
            <a:r>
              <a:rPr lang="nl-NL" sz="1800" dirty="0" err="1">
                <a:solidFill>
                  <a:srgbClr val="002060"/>
                </a:solidFill>
                <a:cs typeface="Aharoni" panose="02010803020104030203" pitchFamily="2" charset="-79"/>
              </a:rPr>
              <a:t>Sequences</a:t>
            </a:r>
            <a:r>
              <a:rPr lang="nl-NL" sz="1800" dirty="0">
                <a:solidFill>
                  <a:srgbClr val="002060"/>
                </a:solidFill>
                <a:cs typeface="Aharoni" panose="02010803020104030203" pitchFamily="2" charset="-79"/>
              </a:rPr>
              <a:t>:</a:t>
            </a:r>
          </a:p>
          <a:p>
            <a:pPr marL="742950" lvl="1" indent="-285750" algn="l">
              <a:buClr>
                <a:schemeClr val="tx1"/>
              </a:buClr>
              <a:buFont typeface="Wingdings" pitchFamily="2" charset="2"/>
              <a:buChar char="Ø"/>
            </a:pPr>
            <a:r>
              <a:rPr lang="en-GB" sz="1800" dirty="0">
                <a:solidFill>
                  <a:srgbClr val="002060"/>
                </a:solidFill>
              </a:rPr>
              <a:t>Define stop words where the model should cut off</a:t>
            </a:r>
          </a:p>
          <a:p>
            <a:pPr marL="742950" lvl="1" indent="-285750" algn="l">
              <a:buClr>
                <a:schemeClr val="tx1"/>
              </a:buClr>
              <a:buFont typeface="Wingdings" pitchFamily="2" charset="2"/>
              <a:buChar char="Ø"/>
            </a:pPr>
            <a:endParaRPr lang="nl-NL" sz="1800" dirty="0">
              <a:solidFill>
                <a:srgbClr val="002060"/>
              </a:solidFill>
              <a:cs typeface="Aharoni" panose="02010803020104030203" pitchFamily="2" charset="-79"/>
            </a:endParaRP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nl-NL" sz="1800" dirty="0">
              <a:solidFill>
                <a:srgbClr val="002060"/>
              </a:solidFill>
              <a:cs typeface="Aharoni" panose="02010803020104030203" pitchFamily="2" charset="-79"/>
            </a:endParaRP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nl-NL" sz="1800" dirty="0">
              <a:solidFill>
                <a:srgbClr val="002060"/>
              </a:solidFill>
              <a:cs typeface="Aharoni" panose="02010803020104030203" pitchFamily="2" charset="-79"/>
            </a:endParaRP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nl-NL" sz="1800" dirty="0">
              <a:solidFill>
                <a:srgbClr val="002060"/>
              </a:solidFill>
              <a:cs typeface="Aharoni" panose="02010803020104030203" pitchFamily="2" charset="-79"/>
            </a:endParaRP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nl-NL" sz="1800" dirty="0">
              <a:solidFill>
                <a:srgbClr val="002060"/>
              </a:solidFill>
              <a:cs typeface="Aharoni" panose="02010803020104030203" pitchFamily="2" charset="-79"/>
            </a:endParaRPr>
          </a:p>
          <a:p>
            <a:pPr marL="742950" lvl="1" indent="-285750" algn="l">
              <a:buClr>
                <a:schemeClr val="tx1"/>
              </a:buClr>
              <a:buFont typeface="Wingdings" pitchFamily="2" charset="2"/>
              <a:buChar char="Ø"/>
            </a:pPr>
            <a:endParaRPr lang="tr-TR" sz="1800" dirty="0">
              <a:solidFill>
                <a:srgbClr val="002060"/>
              </a:solidFill>
              <a:cs typeface="Aharoni" panose="02010803020104030203" pitchFamily="2" charset="-79"/>
            </a:endParaRP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9E031194-A80C-CB30-F1D2-ACB257A30D9A}"/>
              </a:ext>
            </a:extLst>
          </p:cNvPr>
          <p:cNvSpPr txBox="1">
            <a:spLocks/>
          </p:cNvSpPr>
          <p:nvPr/>
        </p:nvSpPr>
        <p:spPr>
          <a:xfrm>
            <a:off x="0" y="-585320"/>
            <a:ext cx="9785131" cy="2286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900" kern="1200" spc="-10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tr-TR" sz="4000" dirty="0">
                <a:solidFill>
                  <a:schemeClr val="accent3">
                    <a:lumMod val="75000"/>
                  </a:schemeClr>
                </a:solidFill>
              </a:rPr>
              <a:t>Chat </a:t>
            </a:r>
            <a:r>
              <a:rPr lang="tr-TR" sz="4000" dirty="0" err="1">
                <a:solidFill>
                  <a:schemeClr val="accent3">
                    <a:lumMod val="75000"/>
                  </a:schemeClr>
                </a:solidFill>
              </a:rPr>
              <a:t>Options</a:t>
            </a:r>
            <a:endParaRPr lang="tr-TR" sz="4000" dirty="0">
              <a:solidFill>
                <a:schemeClr val="accent3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512648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10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10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10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10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10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riangular abstract background">
            <a:extLst>
              <a:ext uri="{FF2B5EF4-FFF2-40B4-BE49-F238E27FC236}">
                <a16:creationId xmlns:a16="http://schemas.microsoft.com/office/drawing/2014/main" id="{9067DEA7-A679-D953-FF41-C1FD2565F2E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730"/>
          <a:stretch>
            <a:fillRect/>
          </a:stretch>
        </p:blipFill>
        <p:spPr>
          <a:xfrm>
            <a:off x="20" y="264611"/>
            <a:ext cx="12191980" cy="6858001"/>
          </a:xfrm>
          <a:custGeom>
            <a:avLst/>
            <a:gdLst/>
            <a:ahLst/>
            <a:cxnLst/>
            <a:rect l="l" t="t" r="r" b="b"/>
            <a:pathLst>
              <a:path w="12191999" h="6857999">
                <a:moveTo>
                  <a:pt x="0" y="0"/>
                </a:moveTo>
                <a:lnTo>
                  <a:pt x="12191999" y="0"/>
                </a:lnTo>
                <a:lnTo>
                  <a:pt x="12191999" y="6857999"/>
                </a:lnTo>
                <a:lnTo>
                  <a:pt x="4628129" y="6857999"/>
                </a:lnTo>
                <a:lnTo>
                  <a:pt x="4734519" y="6819371"/>
                </a:lnTo>
                <a:cubicBezTo>
                  <a:pt x="4938119" y="6741181"/>
                  <a:pt x="5132935" y="6652933"/>
                  <a:pt x="5315781" y="6551721"/>
                </a:cubicBezTo>
                <a:cubicBezTo>
                  <a:pt x="6619811" y="5830059"/>
                  <a:pt x="6364610" y="4934281"/>
                  <a:pt x="6058656" y="3948664"/>
                </a:cubicBezTo>
                <a:cubicBezTo>
                  <a:pt x="5601502" y="2476708"/>
                  <a:pt x="4958009" y="1222984"/>
                  <a:pt x="2540911" y="827627"/>
                </a:cubicBezTo>
                <a:cubicBezTo>
                  <a:pt x="1760946" y="699982"/>
                  <a:pt x="986522" y="591203"/>
                  <a:pt x="238021" y="541759"/>
                </a:cubicBezTo>
                <a:lnTo>
                  <a:pt x="0" y="529223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065AD47-5479-14E4-B4FD-2FFB235788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407611"/>
            <a:ext cx="9785131" cy="2286000"/>
          </a:xfrm>
        </p:spPr>
        <p:txBody>
          <a:bodyPr>
            <a:normAutofit/>
          </a:bodyPr>
          <a:lstStyle/>
          <a:p>
            <a:pPr algn="l"/>
            <a:r>
              <a:rPr lang="tr-TR" dirty="0">
                <a:solidFill>
                  <a:schemeClr val="accent3">
                    <a:lumMod val="75000"/>
                  </a:schemeClr>
                </a:solidFill>
              </a:rPr>
              <a:t>Gen AI </a:t>
            </a:r>
            <a:r>
              <a:rPr lang="tr-TR" dirty="0" err="1">
                <a:solidFill>
                  <a:schemeClr val="accent3">
                    <a:lumMod val="75000"/>
                  </a:schemeClr>
                </a:solidFill>
              </a:rPr>
              <a:t>with</a:t>
            </a:r>
            <a:r>
              <a:rPr lang="tr-TR" dirty="0">
                <a:solidFill>
                  <a:schemeClr val="accent3">
                    <a:lumMod val="75000"/>
                  </a:schemeClr>
                </a:solidFill>
              </a:rPr>
              <a:t> Java </a:t>
            </a:r>
            <a:r>
              <a:rPr lang="tr-TR" dirty="0" err="1">
                <a:solidFill>
                  <a:schemeClr val="accent3">
                    <a:lumMod val="75000"/>
                  </a:schemeClr>
                </a:solidFill>
              </a:rPr>
              <a:t>and</a:t>
            </a:r>
            <a:r>
              <a:rPr lang="tr-TR" dirty="0">
                <a:solidFill>
                  <a:schemeClr val="accent3">
                    <a:lumMod val="75000"/>
                  </a:schemeClr>
                </a:solidFill>
              </a:rPr>
              <a:t> Spring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367FAE-7EB5-6617-48D0-92BD338C91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8629" y="3766202"/>
            <a:ext cx="4572000" cy="1524000"/>
          </a:xfrm>
        </p:spPr>
        <p:txBody>
          <a:bodyPr anchor="b">
            <a:normAutofit/>
          </a:bodyPr>
          <a:lstStyle/>
          <a:p>
            <a:pPr algn="l"/>
            <a:r>
              <a:rPr lang="tr-TR" dirty="0" err="1">
                <a:latin typeface="Gabriola" pitchFamily="82" charset="0"/>
                <a:cs typeface="Apple Chancery" panose="03020702040506060504" pitchFamily="66" charset="-79"/>
              </a:rPr>
              <a:t>By</a:t>
            </a:r>
            <a:r>
              <a:rPr lang="tr-TR" dirty="0">
                <a:latin typeface="Gabriola" pitchFamily="82" charset="0"/>
                <a:cs typeface="Apple Chancery" panose="03020702040506060504" pitchFamily="66" charset="-79"/>
              </a:rPr>
              <a:t> Ali Gelenler</a:t>
            </a:r>
          </a:p>
        </p:txBody>
      </p:sp>
      <p:pic>
        <p:nvPicPr>
          <p:cNvPr id="5" name="Picture 4" descr="A person smiling for the camera&#10;&#10;Description automatically generated">
            <a:extLst>
              <a:ext uri="{FF2B5EF4-FFF2-40B4-BE49-F238E27FC236}">
                <a16:creationId xmlns:a16="http://schemas.microsoft.com/office/drawing/2014/main" id="{01A85EC1-0397-5B85-A96E-F4002E1AE0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3382" y="4158969"/>
            <a:ext cx="822493" cy="1131233"/>
          </a:xfrm>
          <a:prstGeom prst="rect">
            <a:avLst/>
          </a:prstGeom>
          <a:effectLst>
            <a:glow rad="63500">
              <a:srgbClr val="002060">
                <a:alpha val="40000"/>
              </a:srgbClr>
            </a:glow>
            <a:softEdge rad="50800"/>
          </a:effectLst>
        </p:spPr>
      </p:pic>
    </p:spTree>
    <p:extLst>
      <p:ext uri="{BB962C8B-B14F-4D97-AF65-F5344CB8AC3E}">
        <p14:creationId xmlns:p14="http://schemas.microsoft.com/office/powerpoint/2010/main" val="1728711404"/>
      </p:ext>
    </p:extLst>
  </p:cSld>
  <p:clrMapOvr>
    <a:masterClrMapping/>
  </p:clrMapOvr>
</p:sld>
</file>

<file path=ppt/theme/theme1.xml><?xml version="1.0" encoding="utf-8"?>
<a:theme xmlns:a="http://schemas.openxmlformats.org/drawingml/2006/main" name="Frame">
  <a:themeElements>
    <a:clrScheme name="Frame">
      <a:dk1>
        <a:srgbClr val="000000"/>
      </a:dk1>
      <a:lt1>
        <a:srgbClr val="FFFFFF"/>
      </a:lt1>
      <a:dk2>
        <a:srgbClr val="545454"/>
      </a:dk2>
      <a:lt2>
        <a:srgbClr val="BFBFBF"/>
      </a:lt2>
      <a:accent1>
        <a:srgbClr val="40BAD2"/>
      </a:accent1>
      <a:accent2>
        <a:srgbClr val="FAB900"/>
      </a:accent2>
      <a:accent3>
        <a:srgbClr val="90BB23"/>
      </a:accent3>
      <a:accent4>
        <a:srgbClr val="EE7008"/>
      </a:accent4>
      <a:accent5>
        <a:srgbClr val="1AB39F"/>
      </a:accent5>
      <a:accent6>
        <a:srgbClr val="D5393D"/>
      </a:accent6>
      <a:hlink>
        <a:srgbClr val="90BB23"/>
      </a:hlink>
      <a:folHlink>
        <a:srgbClr val="EE7008"/>
      </a:folHlink>
    </a:clrScheme>
    <a:fontScheme name="Frame">
      <a:maj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Fram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20000"/>
                <a:lumMod val="102000"/>
              </a:schemeClr>
            </a:gs>
            <a:gs pos="48000">
              <a:schemeClr val="phClr">
                <a:tint val="98000"/>
                <a:shade val="90000"/>
                <a:satMod val="110000"/>
                <a:lumMod val="103000"/>
              </a:schemeClr>
            </a:gs>
            <a:gs pos="100000">
              <a:schemeClr val="phClr">
                <a:tint val="98000"/>
                <a:shade val="8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ame" id="{F226E7A2-7162-461C-9490-D27D9DC04E43}" vid="{629A0216-3BBD-45C0-B63F-2683BEA18F6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Frame</Template>
  <TotalTime>9557</TotalTime>
  <Words>219</Words>
  <Application>Microsoft Macintosh PowerPoint</Application>
  <PresentationFormat>Widescreen</PresentationFormat>
  <Paragraphs>33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Arial</vt:lpstr>
      <vt:lpstr>Corbel</vt:lpstr>
      <vt:lpstr>Gabriola</vt:lpstr>
      <vt:lpstr>Wingdings</vt:lpstr>
      <vt:lpstr>Wingdings 2</vt:lpstr>
      <vt:lpstr>Frame</vt:lpstr>
      <vt:lpstr>Gen AI with Java and Spring</vt:lpstr>
      <vt:lpstr>PowerPoint Presentation</vt:lpstr>
      <vt:lpstr>PowerPoint Presentation</vt:lpstr>
      <vt:lpstr>PowerPoint Presentation</vt:lpstr>
      <vt:lpstr>Gen AI with Java and Spring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 AI with Java and Spring</dc:title>
  <dc:creator>eaalgorithm@gmail.com</dc:creator>
  <cp:lastModifiedBy>eaalgorithm@gmail.com</cp:lastModifiedBy>
  <cp:revision>35</cp:revision>
  <dcterms:created xsi:type="dcterms:W3CDTF">2025-10-29T22:10:39Z</dcterms:created>
  <dcterms:modified xsi:type="dcterms:W3CDTF">2025-12-15T12:19:42Z</dcterms:modified>
</cp:coreProperties>
</file>