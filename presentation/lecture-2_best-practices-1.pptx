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2" r:id="rId1"/>
  </p:sldMasterIdLst>
  <p:sldIdLst>
    <p:sldId id="256" r:id="rId2"/>
    <p:sldId id="264" r:id="rId3"/>
    <p:sldId id="262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036"/>
    <p:restoredTop sz="94664"/>
  </p:normalViewPr>
  <p:slideViewPr>
    <p:cSldViewPr snapToGrid="0">
      <p:cViewPr varScale="1">
        <p:scale>
          <a:sx n="91" d="100"/>
          <a:sy n="91" d="100"/>
        </p:scale>
        <p:origin x="280" y="1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999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576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909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226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65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899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235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230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472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139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040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76969C88-B244-455D-A017-012B25B1ACDD}" type="datetimeFigureOut">
              <a:rPr lang="en-US" smtClean="0"/>
              <a:pPr/>
              <a:t>12/18/25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07CE569E-9B7C-4CB9-AB80-C0841F922C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677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5" r:id="rId3"/>
    <p:sldLayoutId id="2147483816" r:id="rId4"/>
    <p:sldLayoutId id="2147483817" r:id="rId5"/>
    <p:sldLayoutId id="2147483818" r:id="rId6"/>
    <p:sldLayoutId id="2147483819" r:id="rId7"/>
    <p:sldLayoutId id="2147483820" r:id="rId8"/>
    <p:sldLayoutId id="2147483821" r:id="rId9"/>
    <p:sldLayoutId id="2147483822" r:id="rId10"/>
    <p:sldLayoutId id="214748382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65AD47-5479-14E4-B4FD-2FFB23578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07611"/>
            <a:ext cx="9785131" cy="2286000"/>
          </a:xfrm>
        </p:spPr>
        <p:txBody>
          <a:bodyPr>
            <a:normAutofit/>
          </a:bodyPr>
          <a:lstStyle/>
          <a:p>
            <a:pPr algn="l"/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Gen AI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with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Java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and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Spring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67FAE-7EB5-6617-48D0-92BD338C91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629" y="3766202"/>
            <a:ext cx="4572000" cy="1524000"/>
          </a:xfrm>
        </p:spPr>
        <p:txBody>
          <a:bodyPr anchor="b">
            <a:normAutofit/>
          </a:bodyPr>
          <a:lstStyle/>
          <a:p>
            <a:pPr algn="l"/>
            <a:r>
              <a:rPr lang="tr-TR" dirty="0" err="1">
                <a:latin typeface="Gabriola" pitchFamily="82" charset="0"/>
                <a:cs typeface="Apple Chancery" panose="03020702040506060504" pitchFamily="66" charset="-79"/>
              </a:rPr>
              <a:t>By</a:t>
            </a:r>
            <a:r>
              <a:rPr lang="tr-TR" dirty="0">
                <a:latin typeface="Gabriola" pitchFamily="82" charset="0"/>
                <a:cs typeface="Apple Chancery" panose="03020702040506060504" pitchFamily="66" charset="-79"/>
              </a:rPr>
              <a:t> Ali Gelenler</a:t>
            </a:r>
          </a:p>
        </p:txBody>
      </p:sp>
      <p:pic>
        <p:nvPicPr>
          <p:cNvPr id="5" name="Picture 4" descr="A person smiling for the camera&#10;&#10;Description automatically generated">
            <a:extLst>
              <a:ext uri="{FF2B5EF4-FFF2-40B4-BE49-F238E27FC236}">
                <a16:creationId xmlns:a16="http://schemas.microsoft.com/office/drawing/2014/main" id="{01A85EC1-0397-5B85-A96E-F4002E1AE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382" y="4158969"/>
            <a:ext cx="822493" cy="1131233"/>
          </a:xfrm>
          <a:prstGeom prst="rect">
            <a:avLst/>
          </a:prstGeom>
          <a:effectLst>
            <a:glow rad="63500">
              <a:srgbClr val="002060">
                <a:alpha val="40000"/>
              </a:srgbClr>
            </a:glow>
            <a:softEdge rad="50800"/>
          </a:effectLst>
        </p:spPr>
      </p:pic>
    </p:spTree>
    <p:extLst>
      <p:ext uri="{BB962C8B-B14F-4D97-AF65-F5344CB8AC3E}">
        <p14:creationId xmlns:p14="http://schemas.microsoft.com/office/powerpoint/2010/main" val="1992101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10" name="Subtitle 9">
            <a:extLst>
              <a:ext uri="{FF2B5EF4-FFF2-40B4-BE49-F238E27FC236}">
                <a16:creationId xmlns:a16="http://schemas.microsoft.com/office/drawing/2014/main" id="{0042004D-6542-CFF4-3784-78CFA5C0B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097" y="1984459"/>
            <a:ext cx="10668000" cy="1328754"/>
          </a:xfrm>
        </p:spPr>
        <p:txBody>
          <a:bodyPr>
            <a:noAutofit/>
          </a:bodyPr>
          <a:lstStyle/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System messages: </a:t>
            </a:r>
            <a:r>
              <a:rPr lang="en-GB" sz="1800" dirty="0">
                <a:solidFill>
                  <a:srgbClr val="002060"/>
                </a:solidFill>
              </a:rPr>
              <a:t>Setting a role or context for the AI and using for guardrail</a:t>
            </a:r>
          </a:p>
          <a:p>
            <a:pPr marL="800100" lvl="1" indent="-34290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Keeps responses </a:t>
            </a:r>
            <a:r>
              <a:rPr lang="en-GB" sz="1800" b="1" dirty="0">
                <a:solidFill>
                  <a:srgbClr val="002060"/>
                </a:solidFill>
              </a:rPr>
              <a:t>consistent</a:t>
            </a:r>
            <a:r>
              <a:rPr lang="en-GB" sz="1800" dirty="0">
                <a:solidFill>
                  <a:srgbClr val="002060"/>
                </a:solidFill>
              </a:rPr>
              <a:t> (no need to repeat instructions every time).</a:t>
            </a:r>
          </a:p>
          <a:p>
            <a:pPr marL="800100" lvl="1" indent="-34290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Ensures </a:t>
            </a:r>
            <a:r>
              <a:rPr lang="en-GB" sz="1800" b="1" dirty="0">
                <a:solidFill>
                  <a:srgbClr val="002060"/>
                </a:solidFill>
              </a:rPr>
              <a:t>style and tone</a:t>
            </a:r>
            <a:r>
              <a:rPr lang="en-GB" sz="1800" dirty="0">
                <a:solidFill>
                  <a:srgbClr val="002060"/>
                </a:solidFill>
              </a:rPr>
              <a:t> (e.g., formal Javadoc style).</a:t>
            </a:r>
          </a:p>
          <a:p>
            <a:pPr marL="800100" lvl="1" indent="-34290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Makes the model act like a </a:t>
            </a:r>
            <a:r>
              <a:rPr lang="en-GB" sz="1800" b="1" dirty="0">
                <a:solidFill>
                  <a:srgbClr val="002060"/>
                </a:solidFill>
              </a:rPr>
              <a:t>specialized assistant</a:t>
            </a:r>
            <a:r>
              <a:rPr lang="en-GB" sz="1800" dirty="0">
                <a:solidFill>
                  <a:srgbClr val="002060"/>
                </a:solidFill>
              </a:rPr>
              <a:t> (here: a </a:t>
            </a:r>
            <a:r>
              <a:rPr lang="en-GB" sz="1800" dirty="0" err="1">
                <a:solidFill>
                  <a:srgbClr val="002060"/>
                </a:solidFill>
              </a:rPr>
              <a:t>JavaDoc</a:t>
            </a:r>
            <a:r>
              <a:rPr lang="en-GB" sz="1800" dirty="0">
                <a:solidFill>
                  <a:srgbClr val="002060"/>
                </a:solidFill>
              </a:rPr>
              <a:t> writer).</a:t>
            </a:r>
          </a:p>
          <a:p>
            <a:pPr marL="800100" lvl="1" indent="-34290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Use as a </a:t>
            </a:r>
            <a:r>
              <a:rPr lang="en-GB" sz="1800" b="1" dirty="0">
                <a:solidFill>
                  <a:srgbClr val="002060"/>
                </a:solidFill>
              </a:rPr>
              <a:t>guardrail</a:t>
            </a: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Returning multiple results: </a:t>
            </a:r>
            <a:r>
              <a:rPr lang="en-GB" sz="1800" dirty="0">
                <a:solidFill>
                  <a:srgbClr val="002060"/>
                </a:solidFill>
              </a:rPr>
              <a:t>Instructing LLM to return multiple results to choose among them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Limiting token usage: </a:t>
            </a:r>
            <a:r>
              <a:rPr lang="en-GB" sz="1800" dirty="0">
                <a:solidFill>
                  <a:srgbClr val="002060"/>
                </a:solidFill>
              </a:rPr>
              <a:t>For cost control, less latency and preventing </a:t>
            </a:r>
            <a:r>
              <a:rPr lang="en-GB" sz="1800">
                <a:solidFill>
                  <a:srgbClr val="002060"/>
                </a:solidFill>
              </a:rPr>
              <a:t>token limit errors</a:t>
            </a: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b="1" dirty="0">
              <a:solidFill>
                <a:srgbClr val="002060"/>
              </a:solidFill>
            </a:endParaRPr>
          </a:p>
          <a:p>
            <a:pPr>
              <a:buClr>
                <a:srgbClr val="002060"/>
              </a:buClr>
            </a:pPr>
            <a:endParaRPr lang="en-GB" sz="1800" dirty="0">
              <a:solidFill>
                <a:srgbClr val="002060"/>
              </a:solidFill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E031194-A80C-CB30-F1D2-ACB257A30D9A}"/>
              </a:ext>
            </a:extLst>
          </p:cNvPr>
          <p:cNvSpPr txBox="1">
            <a:spLocks/>
          </p:cNvSpPr>
          <p:nvPr/>
        </p:nvSpPr>
        <p:spPr>
          <a:xfrm>
            <a:off x="0" y="-585320"/>
            <a:ext cx="9785131" cy="2286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900" kern="1200" spc="-10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Prompt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Engineering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Techniques</a:t>
            </a:r>
            <a:endParaRPr lang="tr-TR" sz="4000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3076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10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10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65AD47-5479-14E4-B4FD-2FFB23578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07611"/>
            <a:ext cx="9785131" cy="2286000"/>
          </a:xfrm>
        </p:spPr>
        <p:txBody>
          <a:bodyPr>
            <a:normAutofit/>
          </a:bodyPr>
          <a:lstStyle/>
          <a:p>
            <a:pPr algn="l"/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Gen AI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with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Java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and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Spring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67FAE-7EB5-6617-48D0-92BD338C91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629" y="3766202"/>
            <a:ext cx="4572000" cy="1524000"/>
          </a:xfrm>
        </p:spPr>
        <p:txBody>
          <a:bodyPr anchor="b">
            <a:normAutofit/>
          </a:bodyPr>
          <a:lstStyle/>
          <a:p>
            <a:pPr algn="l"/>
            <a:r>
              <a:rPr lang="tr-TR" dirty="0" err="1">
                <a:latin typeface="Gabriola" pitchFamily="82" charset="0"/>
                <a:cs typeface="Apple Chancery" panose="03020702040506060504" pitchFamily="66" charset="-79"/>
              </a:rPr>
              <a:t>By</a:t>
            </a:r>
            <a:r>
              <a:rPr lang="tr-TR" dirty="0">
                <a:latin typeface="Gabriola" pitchFamily="82" charset="0"/>
                <a:cs typeface="Apple Chancery" panose="03020702040506060504" pitchFamily="66" charset="-79"/>
              </a:rPr>
              <a:t> Ali Gelenler</a:t>
            </a:r>
          </a:p>
        </p:txBody>
      </p:sp>
      <p:pic>
        <p:nvPicPr>
          <p:cNvPr id="5" name="Picture 4" descr="A person smiling for the camera&#10;&#10;Description automatically generated">
            <a:extLst>
              <a:ext uri="{FF2B5EF4-FFF2-40B4-BE49-F238E27FC236}">
                <a16:creationId xmlns:a16="http://schemas.microsoft.com/office/drawing/2014/main" id="{01A85EC1-0397-5B85-A96E-F4002E1AE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382" y="4158969"/>
            <a:ext cx="822493" cy="1131233"/>
          </a:xfrm>
          <a:prstGeom prst="rect">
            <a:avLst/>
          </a:prstGeom>
          <a:effectLst>
            <a:glow rad="63500">
              <a:srgbClr val="002060">
                <a:alpha val="40000"/>
              </a:srgbClr>
            </a:glow>
            <a:softEdge rad="50800"/>
          </a:effectLst>
        </p:spPr>
      </p:pic>
    </p:spTree>
    <p:extLst>
      <p:ext uri="{BB962C8B-B14F-4D97-AF65-F5344CB8AC3E}">
        <p14:creationId xmlns:p14="http://schemas.microsoft.com/office/powerpoint/2010/main" val="1728711404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Frame</Template>
  <TotalTime>10236</TotalTime>
  <Words>109</Words>
  <Application>Microsoft Macintosh PowerPoint</Application>
  <PresentationFormat>Widescreen</PresentationFormat>
  <Paragraphs>15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Corbel</vt:lpstr>
      <vt:lpstr>Gabriola</vt:lpstr>
      <vt:lpstr>Wingdings</vt:lpstr>
      <vt:lpstr>Wingdings 2</vt:lpstr>
      <vt:lpstr>Frame</vt:lpstr>
      <vt:lpstr>Gen AI with Java and Spring</vt:lpstr>
      <vt:lpstr>PowerPoint Presentation</vt:lpstr>
      <vt:lpstr>Gen AI with Java and Spring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 AI with Java and Spring</dc:title>
  <dc:creator>eaalgorithm@gmail.com</dc:creator>
  <cp:lastModifiedBy>eaalgorithm@gmail.com</cp:lastModifiedBy>
  <cp:revision>42</cp:revision>
  <dcterms:created xsi:type="dcterms:W3CDTF">2025-10-29T22:10:39Z</dcterms:created>
  <dcterms:modified xsi:type="dcterms:W3CDTF">2025-12-18T13:45:42Z</dcterms:modified>
</cp:coreProperties>
</file>