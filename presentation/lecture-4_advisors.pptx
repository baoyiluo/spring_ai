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57" r:id="rId3"/>
    <p:sldId id="263" r:id="rId4"/>
    <p:sldId id="264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19"/>
    <p:restoredTop sz="94694"/>
  </p:normalViewPr>
  <p:slideViewPr>
    <p:cSldViewPr snapToGrid="0">
      <p:cViewPr varScale="1">
        <p:scale>
          <a:sx n="100" d="100"/>
          <a:sy n="100" d="100"/>
        </p:scale>
        <p:origin x="280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9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9210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139" y="1700680"/>
            <a:ext cx="10668000" cy="1328754"/>
          </a:xfrm>
        </p:spPr>
        <p:txBody>
          <a:bodyPr>
            <a:noAutofit/>
          </a:bodyPr>
          <a:lstStyle/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Hooks into the chat flow between your application and the model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The advisor chain architecture is used to provide a flexible, modular way to intercept, modify, or extend the </a:t>
            </a:r>
            <a:r>
              <a:rPr lang="en-GB" sz="1800" dirty="0" err="1">
                <a:solidFill>
                  <a:srgbClr val="002060"/>
                </a:solidFill>
              </a:rPr>
              <a:t>behavior</a:t>
            </a:r>
            <a:r>
              <a:rPr lang="en-GB" sz="1800" dirty="0">
                <a:solidFill>
                  <a:srgbClr val="002060"/>
                </a:solidFill>
              </a:rPr>
              <a:t> of chat requests and responses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Pre-Request Advisors</a:t>
            </a:r>
            <a:r>
              <a:rPr lang="en-GB" sz="1800" dirty="0">
                <a:solidFill>
                  <a:srgbClr val="002060"/>
                </a:solidFill>
              </a:rPr>
              <a:t> → Run before sending to model.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Modify the </a:t>
            </a:r>
            <a:r>
              <a:rPr lang="en-GB" sz="1800" b="1" dirty="0">
                <a:solidFill>
                  <a:srgbClr val="002060"/>
                </a:solidFill>
              </a:rPr>
              <a:t>input prompt</a:t>
            </a:r>
            <a:r>
              <a:rPr lang="en-GB" sz="1800" dirty="0">
                <a:solidFill>
                  <a:srgbClr val="002060"/>
                </a:solidFill>
              </a:rPr>
              <a:t> (e.g., inject context, policies, system instructions)</a:t>
            </a:r>
          </a:p>
          <a:p>
            <a:pPr marL="285750" indent="-285750">
              <a:buClr>
                <a:srgbClr val="002060"/>
              </a:buClr>
              <a:buFont typeface="Wingdings" pitchFamily="2" charset="2"/>
              <a:buChar char="Ø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Post-Response Advisors</a:t>
            </a:r>
            <a:r>
              <a:rPr lang="en-GB" sz="1800" dirty="0">
                <a:solidFill>
                  <a:srgbClr val="002060"/>
                </a:solidFill>
              </a:rPr>
              <a:t> → Run after receiving model response.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Modify the </a:t>
            </a:r>
            <a:r>
              <a:rPr lang="en-GB" sz="1800" b="1" dirty="0">
                <a:solidFill>
                  <a:srgbClr val="002060"/>
                </a:solidFill>
              </a:rPr>
              <a:t>output response</a:t>
            </a:r>
            <a:r>
              <a:rPr lang="en-GB" sz="1800" dirty="0">
                <a:solidFill>
                  <a:srgbClr val="002060"/>
                </a:solidFill>
              </a:rPr>
              <a:t> (e.g., sanitize, validate, log)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lvl="1" algn="l"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  <a:p>
            <a:pPr lvl="1" algn="l"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Wingdings" pitchFamily="2" charset="2"/>
              <a:buChar char="Ø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5853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Spring AI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Advisors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049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139" y="1700680"/>
            <a:ext cx="10668000" cy="1328754"/>
          </a:xfrm>
        </p:spPr>
        <p:txBody>
          <a:bodyPr>
            <a:noAutofit/>
          </a:bodyPr>
          <a:lstStyle/>
          <a:p>
            <a:pPr>
              <a:buClr>
                <a:srgbClr val="002060"/>
              </a:buClr>
            </a:pPr>
            <a:r>
              <a:rPr lang="en-GB" sz="1800" dirty="0">
                <a:solidFill>
                  <a:srgbClr val="002060"/>
                </a:solidFill>
              </a:rPr>
              <a:t>Typical use cases for advisors in Spring AI: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Authentication &amp; Authorization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Add headers, tokens, or enforce usage policies before calling the LLM.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Observability</a:t>
            </a:r>
            <a:endParaRPr lang="en-GB" sz="1800" dirty="0">
              <a:solidFill>
                <a:srgbClr val="002060"/>
              </a:solidFill>
            </a:endParaRP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Add logging, metrics, tracing (</a:t>
            </a:r>
            <a:r>
              <a:rPr lang="en-GB" sz="1800" dirty="0" err="1">
                <a:solidFill>
                  <a:srgbClr val="002060"/>
                </a:solidFill>
              </a:rPr>
              <a:t>Micrometer</a:t>
            </a:r>
            <a:r>
              <a:rPr lang="en-GB" sz="1800" dirty="0">
                <a:solidFill>
                  <a:srgbClr val="002060"/>
                </a:solidFill>
              </a:rPr>
              <a:t>/</a:t>
            </a:r>
            <a:r>
              <a:rPr lang="en-GB" sz="1800" dirty="0" err="1">
                <a:solidFill>
                  <a:srgbClr val="002060"/>
                </a:solidFill>
              </a:rPr>
              <a:t>OTel</a:t>
            </a:r>
            <a:r>
              <a:rPr lang="en-GB" sz="1800" dirty="0">
                <a:solidFill>
                  <a:srgbClr val="002060"/>
                </a:solidFill>
              </a:rPr>
              <a:t>), capture latency.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Retry / Resilience</a:t>
            </a:r>
            <a:endParaRPr lang="en-GB" sz="1800" dirty="0">
              <a:solidFill>
                <a:srgbClr val="002060"/>
              </a:solidFill>
            </a:endParaRP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Catch errors (e.g. 429 rate limits), backoff, and retry.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Prompt Injection / Guardrails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Pre-process user input (sanitize, validate) or post-process model output (e.g., block PII).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Custom Behaviour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Add domain-specific wrappers, such as automatically adding a system prompt, or attaching context retrieved from a database or vector store.</a:t>
            </a:r>
          </a:p>
          <a:p>
            <a:pPr marL="742950" lvl="1" indent="-285750" algn="l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742950" lvl="1" indent="-285750" algn="l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Wingdings" pitchFamily="2" charset="2"/>
              <a:buChar char="Ø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5853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Typical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use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cases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6409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10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10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139" y="1886234"/>
            <a:ext cx="10668000" cy="1328754"/>
          </a:xfrm>
        </p:spPr>
        <p:txBody>
          <a:bodyPr>
            <a:noAutofit/>
          </a:bodyPr>
          <a:lstStyle/>
          <a:p>
            <a:pPr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  <a:effectLst/>
              </a:rPr>
              <a:t>  An </a:t>
            </a:r>
            <a:r>
              <a:rPr lang="en-GB" sz="1800" b="1" dirty="0">
                <a:solidFill>
                  <a:srgbClr val="002060"/>
                </a:solidFill>
                <a:effectLst/>
              </a:rPr>
              <a:t>advisor</a:t>
            </a:r>
            <a:r>
              <a:rPr lang="en-GB" sz="1800" dirty="0">
                <a:solidFill>
                  <a:srgbClr val="002060"/>
                </a:solidFill>
                <a:effectLst/>
              </a:rPr>
              <a:t> is basically “a piece of logic that runs </a:t>
            </a:r>
            <a:r>
              <a:rPr lang="en-GB" sz="1800" i="1" dirty="0">
                <a:solidFill>
                  <a:srgbClr val="002060"/>
                </a:solidFill>
                <a:effectLst/>
              </a:rPr>
              <a:t>around</a:t>
            </a:r>
            <a:r>
              <a:rPr lang="en-GB" sz="1800" dirty="0">
                <a:solidFill>
                  <a:srgbClr val="002060"/>
                </a:solidFill>
                <a:effectLst/>
              </a:rPr>
              <a:t> (before and after) a core operation.”</a:t>
            </a:r>
          </a:p>
          <a:p>
            <a:pPr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i="1" dirty="0">
                <a:solidFill>
                  <a:srgbClr val="002060"/>
                </a:solidFill>
                <a:effectLst/>
              </a:rPr>
              <a:t>  Around</a:t>
            </a:r>
            <a:r>
              <a:rPr lang="en-GB" sz="1800" dirty="0">
                <a:solidFill>
                  <a:srgbClr val="002060"/>
                </a:solidFill>
                <a:effectLst/>
              </a:rPr>
              <a:t> means it can: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  <a:effectLst/>
              </a:rPr>
              <a:t>Inspect or mutate the </a:t>
            </a:r>
            <a:r>
              <a:rPr lang="en-GB" sz="1800" b="1" dirty="0">
                <a:solidFill>
                  <a:srgbClr val="002060"/>
                </a:solidFill>
                <a:effectLst/>
              </a:rPr>
              <a:t>input</a:t>
            </a:r>
            <a:r>
              <a:rPr lang="en-GB" sz="1800" dirty="0">
                <a:solidFill>
                  <a:srgbClr val="002060"/>
                </a:solidFill>
                <a:effectLst/>
              </a:rPr>
              <a:t> (the </a:t>
            </a:r>
            <a:r>
              <a:rPr lang="en-GB" sz="1800" dirty="0" err="1">
                <a:solidFill>
                  <a:srgbClr val="002060"/>
                </a:solidFill>
                <a:effectLst/>
              </a:rPr>
              <a:t>ChatClientRequest</a:t>
            </a:r>
            <a:r>
              <a:rPr lang="en-GB" sz="1800" dirty="0">
                <a:solidFill>
                  <a:srgbClr val="002060"/>
                </a:solidFill>
                <a:effectLst/>
              </a:rPr>
              <a:t>)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  <a:effectLst/>
              </a:rPr>
              <a:t>Decide whether to continue or short-circuit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  <a:effectLst/>
              </a:rPr>
              <a:t>Call the </a:t>
            </a:r>
            <a:r>
              <a:rPr lang="en-GB" sz="1800" b="1" dirty="0">
                <a:solidFill>
                  <a:srgbClr val="002060"/>
                </a:solidFill>
                <a:effectLst/>
              </a:rPr>
              <a:t>next advisor</a:t>
            </a:r>
            <a:r>
              <a:rPr lang="en-GB" sz="1800" dirty="0">
                <a:solidFill>
                  <a:srgbClr val="002060"/>
                </a:solidFill>
                <a:effectLst/>
              </a:rPr>
              <a:t> (or the model) in the chain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  <a:effectLst/>
              </a:rPr>
              <a:t>Inspect or mutate the </a:t>
            </a:r>
            <a:r>
              <a:rPr lang="en-GB" sz="1800" b="1" dirty="0">
                <a:solidFill>
                  <a:srgbClr val="002060"/>
                </a:solidFill>
                <a:effectLst/>
              </a:rPr>
              <a:t>output</a:t>
            </a:r>
            <a:r>
              <a:rPr lang="en-GB" sz="1800" dirty="0">
                <a:solidFill>
                  <a:srgbClr val="002060"/>
                </a:solidFill>
                <a:effectLst/>
              </a:rPr>
              <a:t> (the </a:t>
            </a:r>
            <a:r>
              <a:rPr lang="en-GB" sz="1800" dirty="0" err="1">
                <a:solidFill>
                  <a:srgbClr val="002060"/>
                </a:solidFill>
                <a:effectLst/>
              </a:rPr>
              <a:t>ChatClientResponse</a:t>
            </a:r>
            <a:r>
              <a:rPr lang="en-GB" sz="1800" dirty="0">
                <a:solidFill>
                  <a:srgbClr val="002060"/>
                </a:solidFill>
                <a:effectLst/>
              </a:rPr>
              <a:t>)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  <a:effectLst/>
              </a:rPr>
              <a:t>Handle exceptions or retry</a:t>
            </a:r>
          </a:p>
          <a:p>
            <a:pPr marL="742950" lvl="1" indent="-285750" algn="l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Wingdings" pitchFamily="2" charset="2"/>
              <a:buChar char="Ø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5853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Around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advisor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architecture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4288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72871140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10141</TotalTime>
  <Words>292</Words>
  <Application>Microsoft Macintosh PowerPoint</Application>
  <PresentationFormat>Widescreen</PresentationFormat>
  <Paragraphs>40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Corbel</vt:lpstr>
      <vt:lpstr>Gabriola</vt:lpstr>
      <vt:lpstr>Wingdings</vt:lpstr>
      <vt:lpstr>Wingdings 2</vt:lpstr>
      <vt:lpstr>Frame</vt:lpstr>
      <vt:lpstr>Gen AI with Java and Spring</vt:lpstr>
      <vt:lpstr>PowerPoint Presentation</vt:lpstr>
      <vt:lpstr>PowerPoint Presentation</vt:lpstr>
      <vt:lpstr>PowerPoint Presentation</vt:lpstr>
      <vt:lpstr>Gen AI with Java and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with Java and Spring</dc:title>
  <dc:creator>eaalgorithm@gmail.com</dc:creator>
  <cp:lastModifiedBy>eaalgorithm@gmail.com</cp:lastModifiedBy>
  <cp:revision>37</cp:revision>
  <dcterms:created xsi:type="dcterms:W3CDTF">2025-10-29T22:10:39Z</dcterms:created>
  <dcterms:modified xsi:type="dcterms:W3CDTF">2025-12-17T00:09:30Z</dcterms:modified>
</cp:coreProperties>
</file>