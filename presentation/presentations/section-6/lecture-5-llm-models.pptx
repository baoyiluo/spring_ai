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2" r:id="rId1"/>
  </p:sldMasterIdLst>
  <p:sldIdLst>
    <p:sldId id="256" r:id="rId2"/>
    <p:sldId id="265" r:id="rId3"/>
    <p:sldId id="266" r:id="rId4"/>
    <p:sldId id="262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560"/>
    <p:restoredTop sz="94719"/>
  </p:normalViewPr>
  <p:slideViewPr>
    <p:cSldViewPr snapToGrid="0">
      <p:cViewPr varScale="1">
        <p:scale>
          <a:sx n="95" d="100"/>
          <a:sy n="95" d="100"/>
        </p:scale>
        <p:origin x="280" y="1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999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76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909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12/26/25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2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12/26/25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65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12/26/25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899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235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12/26/25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30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12/26/25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72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39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40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12/26/25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7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99210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989" y="1688957"/>
            <a:ext cx="10668000" cy="1444541"/>
          </a:xfrm>
        </p:spPr>
        <p:txBody>
          <a:bodyPr>
            <a:noAutofit/>
          </a:bodyPr>
          <a:lstStyle/>
          <a:p>
            <a:pPr>
              <a:buClr>
                <a:srgbClr val="002060"/>
              </a:buClr>
            </a:pPr>
            <a:endParaRPr lang="en-GB" sz="1800" b="1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  <a:effectLst/>
              </a:rPr>
              <a:t>Costs:  </a:t>
            </a:r>
            <a:r>
              <a:rPr lang="en-GB" sz="1800" dirty="0">
                <a:solidFill>
                  <a:srgbClr val="002060"/>
                </a:solidFill>
                <a:effectLst/>
              </a:rPr>
              <a:t>Usually priced per input and output </a:t>
            </a:r>
            <a:r>
              <a:rPr lang="en-GB" sz="1800" dirty="0">
                <a:solidFill>
                  <a:srgbClr val="002060"/>
                </a:solidFill>
              </a:rPr>
              <a:t>usage</a:t>
            </a:r>
            <a:endParaRPr lang="en-GB" sz="1800" b="1" dirty="0">
              <a:solidFill>
                <a:srgbClr val="002060"/>
              </a:solidFill>
              <a:effectLst/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Benchmarks: </a:t>
            </a:r>
            <a:r>
              <a:rPr lang="en-GB" sz="1800" dirty="0">
                <a:solidFill>
                  <a:srgbClr val="002060"/>
                </a:solidFill>
              </a:rPr>
              <a:t>Ex: https://</a:t>
            </a:r>
            <a:r>
              <a:rPr lang="en-GB" sz="1800" dirty="0" err="1">
                <a:solidFill>
                  <a:srgbClr val="002060"/>
                </a:solidFill>
              </a:rPr>
              <a:t>www.swebench.com</a:t>
            </a:r>
            <a:r>
              <a:rPr lang="en-GB" sz="1800" dirty="0">
                <a:solidFill>
                  <a:srgbClr val="002060"/>
                </a:solidFill>
              </a:rPr>
              <a:t>/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Reasoning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Coding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Math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Tool use</a:t>
            </a:r>
            <a:endParaRPr lang="en-GB" sz="1800" b="1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Context window size: </a:t>
            </a:r>
            <a:r>
              <a:rPr lang="en-GB" sz="1800" dirty="0">
                <a:solidFill>
                  <a:srgbClr val="002060"/>
                </a:solidFill>
              </a:rPr>
              <a:t>Maximum amount of text (tokens) the model can process in a single request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002060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7377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Choosing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a LLM Model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696B195-0126-02BE-0F62-A604715BB0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1269919"/>
              </p:ext>
            </p:extLst>
          </p:nvPr>
        </p:nvGraphicFramePr>
        <p:xfrm>
          <a:off x="511036" y="4557844"/>
          <a:ext cx="7315200" cy="18288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3483509359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4924586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002060"/>
                          </a:solidFill>
                        </a:rPr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solidFill>
                            <a:srgbClr val="002060"/>
                          </a:solidFill>
                        </a:rPr>
                        <a:t>Context Window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2564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002060"/>
                          </a:solidFill>
                        </a:rPr>
                        <a:t>GPT-4o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002060"/>
                          </a:solidFill>
                        </a:rPr>
                        <a:t>~128K tokens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44842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002060"/>
                          </a:solidFill>
                        </a:rPr>
                        <a:t>Claude 3.5 Sonnet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solidFill>
                            <a:srgbClr val="002060"/>
                          </a:solidFill>
                        </a:rPr>
                        <a:t>~200K tokens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0934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002060"/>
                          </a:solidFill>
                        </a:rPr>
                        <a:t>Gemini 1.5 Pro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002060"/>
                          </a:solidFill>
                        </a:rPr>
                        <a:t>Up to 1M tokens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9432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002060"/>
                          </a:solidFill>
                        </a:rPr>
                        <a:t>Llama 3 (most variants)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002060"/>
                          </a:solidFill>
                        </a:rPr>
                        <a:t>8K–128K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27499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8239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1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922" y="1022498"/>
            <a:ext cx="10668000" cy="1444541"/>
          </a:xfrm>
        </p:spPr>
        <p:txBody>
          <a:bodyPr>
            <a:noAutofit/>
          </a:bodyPr>
          <a:lstStyle/>
          <a:p>
            <a:pPr>
              <a:buClr>
                <a:srgbClr val="002060"/>
              </a:buClr>
            </a:pPr>
            <a:endParaRPr lang="en-GB" sz="1800" b="1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Latency: </a:t>
            </a:r>
            <a:r>
              <a:rPr lang="en-GB" sz="1800" dirty="0">
                <a:solidFill>
                  <a:srgbClr val="002060"/>
                </a:solidFill>
              </a:rPr>
              <a:t>Time between request and response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Model size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Output length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Streaming vs non-streaming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Geographic region</a:t>
            </a:r>
            <a:endParaRPr lang="en-GB" sz="1800" b="1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Privacy: </a:t>
            </a:r>
            <a:r>
              <a:rPr lang="en-GB" sz="1800" dirty="0">
                <a:solidFill>
                  <a:srgbClr val="002060"/>
                </a:solidFill>
              </a:rPr>
              <a:t>How user data is stored, logged, or reused by the provider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Is data used for training?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Is it retained?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Can it stay in-region?</a:t>
            </a:r>
            <a:endParaRPr lang="en-GB" sz="1800" b="1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Tool Support: </a:t>
            </a:r>
            <a:r>
              <a:rPr lang="en-GB" sz="1800" dirty="0">
                <a:solidFill>
                  <a:srgbClr val="002060"/>
                </a:solidFill>
              </a:rPr>
              <a:t>Ability for the LLM to call </a:t>
            </a:r>
            <a:r>
              <a:rPr lang="en-GB" sz="1800" b="1" dirty="0">
                <a:solidFill>
                  <a:srgbClr val="002060"/>
                </a:solidFill>
              </a:rPr>
              <a:t>external tools</a:t>
            </a:r>
            <a:r>
              <a:rPr lang="en-GB" sz="1800" dirty="0">
                <a:solidFill>
                  <a:srgbClr val="002060"/>
                </a:solidFill>
              </a:rPr>
              <a:t> (functions, APIs)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Call a Spring REST endpoint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Query PostgreSQL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Trigger a Kafka event</a:t>
            </a:r>
            <a:endParaRPr lang="en-GB" sz="1800" b="1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General Support: </a:t>
            </a:r>
            <a:r>
              <a:rPr lang="en-GB" sz="1800" dirty="0">
                <a:solidFill>
                  <a:srgbClr val="002060"/>
                </a:solidFill>
              </a:rPr>
              <a:t>Overall ecosystem maturity: SDK, Documentation, Community, Stability</a:t>
            </a:r>
            <a:endParaRPr lang="en-GB" sz="1800" b="1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002060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7377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Choosing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a LLM Model</a:t>
            </a:r>
          </a:p>
        </p:txBody>
      </p:sp>
    </p:spTree>
    <p:extLst>
      <p:ext uri="{BB962C8B-B14F-4D97-AF65-F5344CB8AC3E}">
        <p14:creationId xmlns:p14="http://schemas.microsoft.com/office/powerpoint/2010/main" val="1580469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10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10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10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10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1000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1000"/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1000"/>
                                        <p:tgtEl>
                                          <p:spTgt spid="1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728711404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15773</TotalTime>
  <Words>187</Words>
  <Application>Microsoft Macintosh PowerPoint</Application>
  <PresentationFormat>Widescreen</PresentationFormat>
  <Paragraphs>41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Corbel</vt:lpstr>
      <vt:lpstr>Gabriola</vt:lpstr>
      <vt:lpstr>Wingdings</vt:lpstr>
      <vt:lpstr>Wingdings 2</vt:lpstr>
      <vt:lpstr>Frame</vt:lpstr>
      <vt:lpstr>Gen AI with Java and Spring</vt:lpstr>
      <vt:lpstr>PowerPoint Presentation</vt:lpstr>
      <vt:lpstr>PowerPoint Presentation</vt:lpstr>
      <vt:lpstr>Gen AI with Java and Spring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 AI with Java and Spring</dc:title>
  <dc:creator>eaalgorithm@gmail.com</dc:creator>
  <cp:lastModifiedBy>eaalgorithm@gmail.com</cp:lastModifiedBy>
  <cp:revision>56</cp:revision>
  <dcterms:created xsi:type="dcterms:W3CDTF">2025-10-29T22:10:39Z</dcterms:created>
  <dcterms:modified xsi:type="dcterms:W3CDTF">2025-12-26T21:33:53Z</dcterms:modified>
</cp:coreProperties>
</file>