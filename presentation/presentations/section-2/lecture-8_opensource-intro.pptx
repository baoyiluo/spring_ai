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57" r:id="rId3"/>
    <p:sldId id="263" r:id="rId4"/>
    <p:sldId id="265" r:id="rId5"/>
    <p:sldId id="266" r:id="rId6"/>
    <p:sldId id="264" r:id="rId7"/>
    <p:sldId id="267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1"/>
    <p:restoredTop sz="94715"/>
  </p:normalViewPr>
  <p:slideViewPr>
    <p:cSldViewPr snapToGrid="0">
      <p:cViewPr varScale="1">
        <p:scale>
          <a:sx n="116" d="100"/>
          <a:sy n="116" d="100"/>
        </p:scale>
        <p:origin x="304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39" y="2328846"/>
            <a:ext cx="10668000" cy="1328754"/>
          </a:xfrm>
        </p:spPr>
        <p:txBody>
          <a:bodyPr>
            <a:no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Open source degrees: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Model weights (OSI): Parameters that the model trained on 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Source code: Data processing, training and inference code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Training data: Other can reproduce and audit if open source</a:t>
            </a: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Some just shares OSI, called open weight models. Meta’s llama license and </a:t>
            </a:r>
            <a:r>
              <a:rPr lang="en-GB" sz="1800" dirty="0" err="1">
                <a:solidFill>
                  <a:srgbClr val="002060"/>
                </a:solidFill>
              </a:rPr>
              <a:t>Deepseek</a:t>
            </a:r>
            <a:r>
              <a:rPr lang="en-GB" sz="1800" dirty="0">
                <a:solidFill>
                  <a:srgbClr val="002060"/>
                </a:solidFill>
              </a:rPr>
              <a:t> R1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With only the weights → you can run/infer the model, but you cannot retrain it from scratch without the rest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As long as weight files are available and permissively licensed with a model file you can run the model</a:t>
            </a: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Open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source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LLM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models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04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138" y="2215283"/>
            <a:ext cx="10668000" cy="1328754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Data never leaves your machine/VPC (PII, source code, internal docs)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Works without internet (labs, secured environments, travel)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No network hops, no rate limits or outages from a cloud provider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Cost control without paying to per-token APIs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You can fine-tune, quantize, and control context limits, prompts, and system </a:t>
            </a:r>
            <a:r>
              <a:rPr lang="en-GB" sz="1800" dirty="0" err="1">
                <a:solidFill>
                  <a:srgbClr val="002060"/>
                </a:solidFill>
              </a:rPr>
              <a:t>behavior</a:t>
            </a: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Pin the exact model and version for reproducible demos/tests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Efficient inference on consumer hardware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Deployment flexibility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No vendor lock-in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endParaRPr lang="tr-TR" sz="18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Why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do I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need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open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source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models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6645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39" y="2328846"/>
            <a:ext cx="10668000" cy="4347376"/>
          </a:xfrm>
        </p:spPr>
        <p:txBody>
          <a:bodyPr>
            <a:noAutofit/>
          </a:bodyPr>
          <a:lstStyle/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License</a:t>
            </a:r>
          </a:p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Benchmarks: LLM stats, GSM-8K scores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GSM-8K scores: measures logical reasoning and mathematical problem-solving</a:t>
            </a:r>
          </a:p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Tool/Function calling support</a:t>
            </a:r>
          </a:p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Size/Hardware budget: Parameter count</a:t>
            </a:r>
          </a:p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Context windows</a:t>
            </a:r>
          </a:p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Latency and Throughput</a:t>
            </a:r>
          </a:p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Community support</a:t>
            </a:r>
          </a:p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Security and Supply chain</a:t>
            </a:r>
          </a:p>
          <a:p>
            <a:pPr marL="285750" indent="-285750">
              <a:buClr>
                <a:srgbClr val="002060"/>
              </a:buClr>
              <a:buFont typeface="Wingdings" pitchFamily="2" charset="2"/>
              <a:buChar char="Ø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How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to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evaluate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an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open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source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85278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39" y="2328846"/>
            <a:ext cx="10668000" cy="1328754"/>
          </a:xfrm>
        </p:spPr>
        <p:txBody>
          <a:bodyPr>
            <a:no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nl-NL" sz="1800" dirty="0" err="1">
                <a:solidFill>
                  <a:srgbClr val="002060"/>
                </a:solidFill>
              </a:rPr>
              <a:t>Local</a:t>
            </a:r>
            <a:r>
              <a:rPr lang="nl-NL" sz="1800" dirty="0">
                <a:solidFill>
                  <a:srgbClr val="002060"/>
                </a:solidFill>
              </a:rPr>
              <a:t> model runner: </a:t>
            </a:r>
            <a:r>
              <a:rPr lang="nl-NL" sz="1800" dirty="0" err="1">
                <a:solidFill>
                  <a:srgbClr val="002060"/>
                </a:solidFill>
              </a:rPr>
              <a:t>Let’s</a:t>
            </a:r>
            <a:r>
              <a:rPr lang="nl-NL" sz="1800" dirty="0">
                <a:solidFill>
                  <a:srgbClr val="002060"/>
                </a:solidFill>
              </a:rPr>
              <a:t> </a:t>
            </a:r>
            <a:r>
              <a:rPr lang="nl-NL" sz="1800" dirty="0" err="1">
                <a:solidFill>
                  <a:srgbClr val="002060"/>
                </a:solidFill>
              </a:rPr>
              <a:t>you</a:t>
            </a:r>
            <a:r>
              <a:rPr lang="nl-NL" sz="1800" dirty="0">
                <a:solidFill>
                  <a:srgbClr val="002060"/>
                </a:solidFill>
              </a:rPr>
              <a:t> </a:t>
            </a:r>
            <a:r>
              <a:rPr lang="nl-NL" sz="1800" dirty="0" err="1">
                <a:solidFill>
                  <a:srgbClr val="002060"/>
                </a:solidFill>
              </a:rPr>
              <a:t>to</a:t>
            </a:r>
            <a:r>
              <a:rPr lang="nl-NL" sz="1800" dirty="0">
                <a:solidFill>
                  <a:srgbClr val="002060"/>
                </a:solidFill>
              </a:rPr>
              <a:t> download </a:t>
            </a:r>
            <a:r>
              <a:rPr lang="nl-NL" sz="1800" dirty="0" err="1">
                <a:solidFill>
                  <a:srgbClr val="002060"/>
                </a:solidFill>
              </a:rPr>
              <a:t>and</a:t>
            </a:r>
            <a:r>
              <a:rPr lang="nl-NL" sz="1800" dirty="0">
                <a:solidFill>
                  <a:srgbClr val="002060"/>
                </a:solidFill>
              </a:rPr>
              <a:t> run </a:t>
            </a:r>
            <a:r>
              <a:rPr lang="nl-NL" sz="1800" dirty="0" err="1">
                <a:solidFill>
                  <a:srgbClr val="002060"/>
                </a:solidFill>
              </a:rPr>
              <a:t>models</a:t>
            </a:r>
            <a:r>
              <a:rPr lang="nl-NL" sz="1800" dirty="0">
                <a:solidFill>
                  <a:srgbClr val="002060"/>
                </a:solidFill>
              </a:rPr>
              <a:t> </a:t>
            </a:r>
            <a:r>
              <a:rPr lang="nl-NL" sz="1800" dirty="0" err="1">
                <a:solidFill>
                  <a:srgbClr val="002060"/>
                </a:solidFill>
              </a:rPr>
              <a:t>with</a:t>
            </a:r>
            <a:r>
              <a:rPr lang="nl-NL" sz="1800" dirty="0">
                <a:solidFill>
                  <a:srgbClr val="002060"/>
                </a:solidFill>
              </a:rPr>
              <a:t> </a:t>
            </a:r>
            <a:r>
              <a:rPr lang="nl-NL" sz="1800" dirty="0" err="1">
                <a:solidFill>
                  <a:srgbClr val="002060"/>
                </a:solidFill>
              </a:rPr>
              <a:t>customizable</a:t>
            </a:r>
            <a:r>
              <a:rPr lang="nl-NL" sz="1800" dirty="0">
                <a:solidFill>
                  <a:srgbClr val="002060"/>
                </a:solidFill>
              </a:rPr>
              <a:t> Modelfiles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nl-NL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Ollama</a:t>
            </a:r>
            <a:r>
              <a:rPr lang="nl-NL" sz="1800" dirty="0">
                <a:solidFill>
                  <a:srgbClr val="002060"/>
                </a:solidFill>
                <a:cs typeface="Aharoni" panose="02010803020104030203" pitchFamily="2" charset="-79"/>
              </a:rPr>
              <a:t> </a:t>
            </a:r>
            <a:r>
              <a:rPr lang="nl-NL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vs</a:t>
            </a:r>
            <a:r>
              <a:rPr lang="nl-NL" sz="1800" dirty="0">
                <a:solidFill>
                  <a:srgbClr val="002060"/>
                </a:solidFill>
                <a:cs typeface="Aharoni" panose="02010803020104030203" pitchFamily="2" charset="-79"/>
              </a:rPr>
              <a:t> Docker Model Runner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nl-NL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Install</a:t>
            </a:r>
            <a:r>
              <a:rPr lang="nl-NL" sz="1800" dirty="0">
                <a:solidFill>
                  <a:srgbClr val="002060"/>
                </a:solidFill>
                <a:cs typeface="Aharoni" panose="02010803020104030203" pitchFamily="2" charset="-79"/>
              </a:rPr>
              <a:t> </a:t>
            </a:r>
            <a:r>
              <a:rPr lang="nl-NL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Ollama</a:t>
            </a:r>
            <a:r>
              <a:rPr lang="nl-NL" sz="1800" dirty="0">
                <a:solidFill>
                  <a:srgbClr val="002060"/>
                </a:solidFill>
                <a:cs typeface="Aharoni" panose="02010803020104030203" pitchFamily="2" charset="-79"/>
              </a:rPr>
              <a:t> -&gt; pull a model -&gt; run a prompt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nl-NL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With</a:t>
            </a:r>
            <a:r>
              <a:rPr lang="nl-NL" sz="1800" dirty="0">
                <a:solidFill>
                  <a:srgbClr val="002060"/>
                </a:solidFill>
                <a:cs typeface="Aharoni" panose="02010803020104030203" pitchFamily="2" charset="-79"/>
              </a:rPr>
              <a:t> </a:t>
            </a:r>
            <a:r>
              <a:rPr lang="nl-NL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ollama</a:t>
            </a:r>
            <a:r>
              <a:rPr lang="nl-NL" sz="1800" dirty="0">
                <a:solidFill>
                  <a:srgbClr val="002060"/>
                </a:solidFill>
                <a:cs typeface="Aharoni" panose="02010803020104030203" pitchFamily="2" charset="-79"/>
              </a:rPr>
              <a:t>, </a:t>
            </a:r>
            <a:r>
              <a:rPr lang="nl-NL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can</a:t>
            </a:r>
            <a:r>
              <a:rPr lang="nl-NL" sz="1800" dirty="0">
                <a:solidFill>
                  <a:srgbClr val="002060"/>
                </a:solidFill>
                <a:cs typeface="Aharoni" panose="02010803020104030203" pitchFamily="2" charset="-79"/>
              </a:rPr>
              <a:t> </a:t>
            </a:r>
            <a:r>
              <a:rPr lang="nl-NL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expose</a:t>
            </a:r>
            <a:r>
              <a:rPr lang="nl-NL" sz="1800" dirty="0">
                <a:solidFill>
                  <a:srgbClr val="002060"/>
                </a:solidFill>
                <a:cs typeface="Aharoni" panose="02010803020104030203" pitchFamily="2" charset="-79"/>
              </a:rPr>
              <a:t> Open AI compatible API</a:t>
            </a: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285750" indent="-285750">
              <a:buClr>
                <a:schemeClr val="tx1"/>
              </a:buClr>
              <a:buFont typeface="Wingdings" pitchFamily="2" charset="2"/>
              <a:buChar char="Ø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How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to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run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a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local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LLM model</a:t>
            </a:r>
          </a:p>
        </p:txBody>
      </p:sp>
    </p:spTree>
    <p:extLst>
      <p:ext uri="{BB962C8B-B14F-4D97-AF65-F5344CB8AC3E}">
        <p14:creationId xmlns:p14="http://schemas.microsoft.com/office/powerpoint/2010/main" val="365980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39" y="2328846"/>
            <a:ext cx="10668000" cy="4071954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Code assistant on private repos: Generate/refactor code locally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RAG over confidential docs: Summarize contracts, incident runbooks entirely on-prem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Internal helpdesk/agent: Answer company FAQs from a local knowledge base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PII-safe writing: Draft emails, PRDs, </a:t>
            </a:r>
            <a:r>
              <a:rPr lang="en-GB" sz="1800" dirty="0" err="1">
                <a:solidFill>
                  <a:srgbClr val="002060"/>
                </a:solidFill>
              </a:rPr>
              <a:t>postmortems</a:t>
            </a:r>
            <a:r>
              <a:rPr lang="en-GB" sz="1800" dirty="0">
                <a:solidFill>
                  <a:srgbClr val="002060"/>
                </a:solidFill>
              </a:rPr>
              <a:t> without sending content to external APIs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Edge/embedded: On laptops, kiosks, factory floors, or vehicles with unreliable connectivity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Batch processing: Large volumes of prompts at predictable cost/latency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Teaching &amp; demos: Show LLM concepts without requiring keys or internet</a:t>
            </a:r>
          </a:p>
          <a:p>
            <a:pPr marL="285750" indent="-285750">
              <a:buClr>
                <a:srgbClr val="002060"/>
              </a:buClr>
              <a:buFont typeface="Wingdings" pitchFamily="2" charset="2"/>
              <a:buChar char="Ø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Use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case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for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local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LLM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models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086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39" y="2328846"/>
            <a:ext cx="10668000" cy="4071954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Performance gap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Owning hardware is difficult to maintain &amp; Ops overhead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No vendor grade support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Safety and quality risks (Hallucinations / Bias / Non-compliant)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Security risks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License &amp; IP ambiguity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Benchmark is on you to check latency, cost, accuracy targets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Rapid fire releases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Key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challenges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open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source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local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models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459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5892</TotalTime>
  <Words>452</Words>
  <Application>Microsoft Macintosh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30</cp:revision>
  <dcterms:created xsi:type="dcterms:W3CDTF">2025-10-29T22:10:39Z</dcterms:created>
  <dcterms:modified xsi:type="dcterms:W3CDTF">2025-12-07T16:29:10Z</dcterms:modified>
</cp:coreProperties>
</file>