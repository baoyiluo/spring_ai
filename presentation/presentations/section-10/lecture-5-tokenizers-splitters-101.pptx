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26"/>
  </p:normalViewPr>
  <p:slideViewPr>
    <p:cSldViewPr snapToGrid="0">
      <p:cViewPr varScale="1">
        <p:scale>
          <a:sx n="109" d="100"/>
          <a:sy n="109" d="100"/>
        </p:scale>
        <p:origin x="22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80" y="1548280"/>
            <a:ext cx="10730580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Token: </a:t>
            </a:r>
            <a:r>
              <a:rPr lang="en-GB" sz="1800" dirty="0">
                <a:solidFill>
                  <a:srgbClr val="002060"/>
                </a:solidFill>
              </a:rPr>
              <a:t>Smallest chunk of text the model reads at once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BPE (Byte-Pair Encoding): </a:t>
            </a:r>
            <a:r>
              <a:rPr lang="en-GB" sz="1800" dirty="0">
                <a:solidFill>
                  <a:srgbClr val="002060"/>
                </a:solidFill>
              </a:rPr>
              <a:t>Breaking text into chunks.  It starts from characters and merges frequent pairs to build a vocabulary of common pieces (“</a:t>
            </a:r>
            <a:r>
              <a:rPr lang="en-GB" sz="1800" dirty="0" err="1">
                <a:solidFill>
                  <a:srgbClr val="002060"/>
                </a:solidFill>
              </a:rPr>
              <a:t>ing</a:t>
            </a:r>
            <a:r>
              <a:rPr lang="en-GB" sz="1800" dirty="0">
                <a:solidFill>
                  <a:srgbClr val="002060"/>
                </a:solidFill>
              </a:rPr>
              <a:t>”, “</a:t>
            </a:r>
            <a:r>
              <a:rPr lang="en-GB" sz="1800" dirty="0" err="1">
                <a:solidFill>
                  <a:srgbClr val="002060"/>
                </a:solidFill>
              </a:rPr>
              <a:t>tion</a:t>
            </a:r>
            <a:r>
              <a:rPr lang="en-GB" sz="1800" dirty="0">
                <a:solidFill>
                  <a:srgbClr val="002060"/>
                </a:solidFill>
              </a:rPr>
              <a:t>”, “hello”, etc.)</a:t>
            </a:r>
          </a:p>
          <a:p>
            <a:pPr marL="742950" lvl="1" indent="-285750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 The goal is: frequent things become </a:t>
            </a:r>
            <a:r>
              <a:rPr lang="en-GB" sz="1800" b="1" dirty="0">
                <a:solidFill>
                  <a:srgbClr val="002060"/>
                </a:solidFill>
              </a:rPr>
              <a:t>fewer, bigger tokens</a:t>
            </a:r>
            <a:r>
              <a:rPr lang="en-GB" sz="1800" dirty="0">
                <a:solidFill>
                  <a:srgbClr val="002060"/>
                </a:solidFill>
              </a:rPr>
              <a:t>; rare things break into </a:t>
            </a:r>
            <a:r>
              <a:rPr lang="en-GB" sz="1800" b="1" dirty="0">
                <a:solidFill>
                  <a:srgbClr val="002060"/>
                </a:solidFill>
              </a:rPr>
              <a:t>more, smaller tokens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CL100K_BASE: </a:t>
            </a:r>
            <a:r>
              <a:rPr lang="en-GB" sz="1800" dirty="0">
                <a:solidFill>
                  <a:srgbClr val="002060"/>
                </a:solidFill>
              </a:rPr>
              <a:t>A specific BPE vocabulary (≈100k tokens) used by many </a:t>
            </a:r>
            <a:r>
              <a:rPr lang="en-GB" sz="1800" dirty="0" err="1">
                <a:solidFill>
                  <a:srgbClr val="002060"/>
                </a:solidFill>
              </a:rPr>
              <a:t>OpenAI</a:t>
            </a:r>
            <a:r>
              <a:rPr lang="en-GB" sz="1800" dirty="0">
                <a:solidFill>
                  <a:srgbClr val="002060"/>
                </a:solidFill>
              </a:rPr>
              <a:t> models and by Spring AI’s splitter (</a:t>
            </a:r>
            <a:r>
              <a:rPr lang="en-GB" sz="1800" dirty="0" err="1">
                <a:solidFill>
                  <a:srgbClr val="002060"/>
                </a:solidFill>
              </a:rPr>
              <a:t>TokenTextSplitter</a:t>
            </a:r>
            <a:r>
              <a:rPr lang="en-GB" sz="1800" dirty="0">
                <a:solidFill>
                  <a:srgbClr val="002060"/>
                </a:solidFill>
              </a:rPr>
              <a:t>), and implemented in the </a:t>
            </a:r>
            <a:r>
              <a:rPr lang="en-GB" sz="1800" dirty="0" err="1">
                <a:solidFill>
                  <a:srgbClr val="002060"/>
                </a:solidFill>
              </a:rPr>
              <a:t>tiktoken</a:t>
            </a:r>
            <a:r>
              <a:rPr lang="en-GB" sz="1800" dirty="0">
                <a:solidFill>
                  <a:srgbClr val="002060"/>
                </a:solidFill>
              </a:rPr>
              <a:t> library 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Token count: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Open AI Tokenizer page: https://</a:t>
            </a:r>
            <a:r>
              <a:rPr lang="en-GB" sz="1800" dirty="0" err="1">
                <a:solidFill>
                  <a:srgbClr val="002060"/>
                </a:solidFill>
              </a:rPr>
              <a:t>platform.openai.com</a:t>
            </a:r>
            <a:r>
              <a:rPr lang="en-GB" sz="1800" dirty="0">
                <a:solidFill>
                  <a:srgbClr val="002060"/>
                </a:solidFill>
              </a:rPr>
              <a:t>/</a:t>
            </a:r>
            <a:r>
              <a:rPr lang="en-GB" sz="1800" dirty="0" err="1">
                <a:solidFill>
                  <a:srgbClr val="002060"/>
                </a:solidFill>
              </a:rPr>
              <a:t>tokenizer?ref</a:t>
            </a:r>
            <a:r>
              <a:rPr lang="en-GB" sz="1800" dirty="0">
                <a:solidFill>
                  <a:srgbClr val="002060"/>
                </a:solidFill>
              </a:rPr>
              <a:t>=</a:t>
            </a:r>
            <a:r>
              <a:rPr lang="en-GB" sz="1800" dirty="0" err="1">
                <a:solidFill>
                  <a:srgbClr val="002060"/>
                </a:solidFill>
              </a:rPr>
              <a:t>haihai.ai</a:t>
            </a: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 err="1">
                <a:solidFill>
                  <a:srgbClr val="002060"/>
                </a:solidFill>
              </a:rPr>
              <a:t>JTokkit</a:t>
            </a:r>
            <a:r>
              <a:rPr lang="en-GB" sz="1800" dirty="0">
                <a:solidFill>
                  <a:srgbClr val="002060"/>
                </a:solidFill>
              </a:rPr>
              <a:t> library: Java tokenizer Spring AI and </a:t>
            </a:r>
            <a:r>
              <a:rPr lang="en-GB" sz="1800" dirty="0" err="1">
                <a:solidFill>
                  <a:srgbClr val="002060"/>
                </a:solidFill>
              </a:rPr>
              <a:t>OpenAI</a:t>
            </a:r>
            <a:r>
              <a:rPr lang="en-GB" sz="1800" dirty="0">
                <a:solidFill>
                  <a:srgbClr val="002060"/>
                </a:solidFill>
              </a:rPr>
              <a:t> uses under the hood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 err="1">
                <a:solidFill>
                  <a:srgbClr val="002060"/>
                </a:solidFill>
              </a:rPr>
              <a:t>TokenTextSplitter</a:t>
            </a:r>
            <a:r>
              <a:rPr lang="en-GB" sz="1800" b="1" dirty="0">
                <a:solidFill>
                  <a:srgbClr val="002060"/>
                </a:solidFill>
              </a:rPr>
              <a:t>: </a:t>
            </a:r>
            <a:r>
              <a:rPr lang="en-GB" sz="1800" dirty="0">
                <a:solidFill>
                  <a:srgbClr val="002060"/>
                </a:solidFill>
              </a:rPr>
              <a:t>A </a:t>
            </a:r>
            <a:r>
              <a:rPr lang="en-GB" sz="1800" dirty="0" err="1">
                <a:solidFill>
                  <a:srgbClr val="002060"/>
                </a:solidFill>
              </a:rPr>
              <a:t>TextSplitter</a:t>
            </a:r>
            <a:r>
              <a:rPr lang="en-GB" sz="1800" dirty="0">
                <a:solidFill>
                  <a:srgbClr val="002060"/>
                </a:solidFill>
              </a:rPr>
              <a:t> that splits text into chunks of a target size in tokens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RAG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Details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Tokenizers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14803</TotalTime>
  <Words>173</Words>
  <Application>Microsoft Macintosh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63</cp:revision>
  <dcterms:created xsi:type="dcterms:W3CDTF">2025-10-29T22:10:39Z</dcterms:created>
  <dcterms:modified xsi:type="dcterms:W3CDTF">2026-02-09T21:11:37Z</dcterms:modified>
</cp:coreProperties>
</file>