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74"/>
    <p:restoredTop sz="94719"/>
  </p:normalViewPr>
  <p:slideViewPr>
    <p:cSldViewPr snapToGrid="0">
      <p:cViewPr varScale="1">
        <p:scale>
          <a:sx n="135" d="100"/>
          <a:sy n="135" d="100"/>
        </p:scale>
        <p:origin x="1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Introduction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: Course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structure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outline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Java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AI: Spring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introduction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Advanced Spring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features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0" name="Cloud Callout 19">
            <a:extLst>
              <a:ext uri="{FF2B5EF4-FFF2-40B4-BE49-F238E27FC236}">
                <a16:creationId xmlns:a16="http://schemas.microsoft.com/office/drawing/2014/main" id="{3925293F-560A-FF44-EFEB-710535C0C9C6}"/>
              </a:ext>
            </a:extLst>
          </p:cNvPr>
          <p:cNvSpPr/>
          <p:nvPr/>
        </p:nvSpPr>
        <p:spPr>
          <a:xfrm>
            <a:off x="1696897" y="2387392"/>
            <a:ext cx="4116116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u="sng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</a:t>
            </a:r>
            <a:r>
              <a:rPr lang="tr-TR" u="sng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client</a:t>
            </a:r>
            <a:r>
              <a:rPr lang="tr-TR" u="sng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u="sng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applications</a:t>
            </a:r>
            <a:r>
              <a:rPr lang="tr-TR" u="sng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Open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Google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Vertex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Hugging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Face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Ollama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Docker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Model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Runner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algn="ctr"/>
            <a:endParaRPr lang="tr-TR" dirty="0"/>
          </a:p>
        </p:txBody>
      </p:sp>
      <p:sp>
        <p:nvSpPr>
          <p:cNvPr id="21" name="Cloud Callout 20">
            <a:extLst>
              <a:ext uri="{FF2B5EF4-FFF2-40B4-BE49-F238E27FC236}">
                <a16:creationId xmlns:a16="http://schemas.microsoft.com/office/drawing/2014/main" id="{3F4AF660-28D2-F4E1-84DA-91A4833CEF99}"/>
              </a:ext>
            </a:extLst>
          </p:cNvPr>
          <p:cNvSpPr/>
          <p:nvPr/>
        </p:nvSpPr>
        <p:spPr>
          <a:xfrm>
            <a:off x="3812226" y="2104372"/>
            <a:ext cx="3754961" cy="159921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First Spring AI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App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Learning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paths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Cases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Set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up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environment</a:t>
            </a:r>
            <a:endParaRPr lang="tr-TR" dirty="0"/>
          </a:p>
        </p:txBody>
      </p:sp>
      <p:sp>
        <p:nvSpPr>
          <p:cNvPr id="23" name="Cloud Callout 22">
            <a:extLst>
              <a:ext uri="{FF2B5EF4-FFF2-40B4-BE49-F238E27FC236}">
                <a16:creationId xmlns:a16="http://schemas.microsoft.com/office/drawing/2014/main" id="{AF487A9D-BA74-0FD3-4018-CBCDB100844E}"/>
              </a:ext>
            </a:extLst>
          </p:cNvPr>
          <p:cNvSpPr/>
          <p:nvPr/>
        </p:nvSpPr>
        <p:spPr>
          <a:xfrm>
            <a:off x="6527791" y="2329766"/>
            <a:ext cx="4563770" cy="2126492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Client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vs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Chat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Using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multiple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models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in Spring AI</a:t>
            </a:r>
            <a:endParaRPr lang="tr-TR" dirty="0"/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754954" y="2707001"/>
            <a:ext cx="4116116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Response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types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Streaming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Structured</a:t>
            </a: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Output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Chat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Options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Advisors</a:t>
            </a:r>
            <a:endParaRPr lang="tr-TR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BBC5BC-350C-20F0-BDEB-AE720D49A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439" y="2924357"/>
            <a:ext cx="7315200" cy="3255264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4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Promtp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engineering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2060"/>
              </a:buClr>
              <a:buFont typeface="+mj-lt"/>
              <a:buAutoNum type="arabicParenR" startAt="4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Prompt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Hacking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arenR" startAt="4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Gen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LLM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fundamentals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arenR" startAt="4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357419" y="1905001"/>
            <a:ext cx="5087431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zero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/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one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/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few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shot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Chain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of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thought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System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messages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Multiple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results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Limiting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token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and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cost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Creativity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&amp;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controlled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variability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templates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600" dirty="0"/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56388D56-B7AB-FD58-8D4D-50EFB2C5D3C0}"/>
              </a:ext>
            </a:extLst>
          </p:cNvPr>
          <p:cNvSpPr/>
          <p:nvPr/>
        </p:nvSpPr>
        <p:spPr>
          <a:xfrm>
            <a:off x="3394195" y="2045815"/>
            <a:ext cx="5013878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System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message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as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guardrail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Hacking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techniques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Jailbreaking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leaking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Mitigations</a:t>
            </a:r>
            <a:endParaRPr lang="tr-TR" sz="1600" dirty="0"/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589060" y="1754660"/>
            <a:ext cx="5295447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Learning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types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Transformer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architecture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Attention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mechanism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Tokenizers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Embeddings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Positional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encoding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Token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prediction</a:t>
            </a:r>
            <a:endParaRPr lang="tr-TR" sz="15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Choosing</a:t>
            </a:r>
            <a:r>
              <a:rPr lang="tr-TR" sz="15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an LLM model</a:t>
            </a:r>
            <a:endParaRPr lang="tr-TR" sz="15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7B2914-133B-6DB2-CE4C-FC7556DC9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278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" grpId="0" animBg="1"/>
      <p:bldP spid="2" grpId="1" animBg="1"/>
      <p:bldP spid="3" grpId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7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Chat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memory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2060"/>
              </a:buClr>
              <a:buFont typeface="+mj-lt"/>
              <a:buAutoNum type="arabicParenR" startAt="7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Multi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modality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: Image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/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Image</a:t>
            </a:r>
          </a:p>
          <a:p>
            <a:pPr>
              <a:buClr>
                <a:srgbClr val="002060"/>
              </a:buClr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                                       Speech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/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Speech</a:t>
            </a:r>
          </a:p>
          <a:p>
            <a:pPr marL="514350" indent="-514350">
              <a:buClr>
                <a:srgbClr val="0070C0"/>
              </a:buClr>
              <a:buFont typeface="+mj-lt"/>
              <a:buAutoNum type="arabicParenR" startAt="7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070905" y="2164758"/>
            <a:ext cx="6050190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In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Persistent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postgres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Vector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store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pgvector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advisors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Chat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memory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options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56388D56-B7AB-FD58-8D4D-50EFB2C5D3C0}"/>
              </a:ext>
            </a:extLst>
          </p:cNvPr>
          <p:cNvSpPr/>
          <p:nvPr/>
        </p:nvSpPr>
        <p:spPr>
          <a:xfrm>
            <a:off x="3560254" y="2076052"/>
            <a:ext cx="5811181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Image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Image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dall-e-3</a:t>
            </a:r>
            <a:endParaRPr lang="tr-TR" sz="1600" dirty="0"/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606637" y="2122748"/>
            <a:ext cx="5639628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Speech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whisper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Text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Speech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with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tts-1-hd</a:t>
            </a:r>
            <a:endParaRPr lang="tr-TR" sz="1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F4D413-FEF8-36B5-DFF6-BF874D356D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9714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" grpId="0" animBg="1"/>
      <p:bldP spid="2" grpId="1" animBg="1"/>
      <p:bldP spid="3" grpId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9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LLM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limitations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2060"/>
              </a:buClr>
              <a:buFont typeface="+mj-lt"/>
              <a:buAutoNum type="arabicParenR" startAt="10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Prompt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stuffing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,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vector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databases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RAG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arenR" startAt="10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Tool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calling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and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Agents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2060"/>
              </a:buClr>
              <a:buFont typeface="+mj-lt"/>
              <a:buAutoNum type="arabicParenR" startAt="10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Human-in-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the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-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loop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AI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Agents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arenR" startAt="10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2869723" y="1905001"/>
            <a:ext cx="6050190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Preventing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hallucinations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RAG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grounding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Tool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calling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facts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Schema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validation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Structured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output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2" name="Cloud Callout 1">
            <a:extLst>
              <a:ext uri="{FF2B5EF4-FFF2-40B4-BE49-F238E27FC236}">
                <a16:creationId xmlns:a16="http://schemas.microsoft.com/office/drawing/2014/main" id="{56388D56-B7AB-FD58-8D4D-50EFB2C5D3C0}"/>
              </a:ext>
            </a:extLst>
          </p:cNvPr>
          <p:cNvSpPr/>
          <p:nvPr/>
        </p:nvSpPr>
        <p:spPr>
          <a:xfrm>
            <a:off x="3228236" y="1980868"/>
            <a:ext cx="5811181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stuffing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(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In-Prompt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context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Splitting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and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chunking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Embeddings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Vector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databases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Similarity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search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Two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RAG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flow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228236" y="1996132"/>
            <a:ext cx="5639628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Tool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calling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basics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Agent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patterns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Autonomous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Agent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vs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Chained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Workflow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Human-in-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the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-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loop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pattern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Advanced AI Agent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use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case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61908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" grpId="0" animBg="1"/>
      <p:bldP spid="2" grpId="1" animBg="1"/>
      <p:bldP spid="3" grpId="0" animBg="1"/>
      <p:bldP spid="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3" y="2512718"/>
            <a:ext cx="10668000" cy="1524000"/>
          </a:xfrm>
        </p:spPr>
        <p:txBody>
          <a:bodyPr>
            <a:noAutofit/>
          </a:bodyPr>
          <a:lstStyle/>
          <a:p>
            <a:pPr marL="514350" indent="-514350">
              <a:buClr>
                <a:srgbClr val="002060"/>
              </a:buClr>
              <a:buFont typeface="+mj-lt"/>
              <a:buAutoNum type="arabicParenR" startAt="13"/>
            </a:pP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Model </a:t>
            </a: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Context</a:t>
            </a:r>
            <a:r>
              <a:rPr lang="tr-TR" sz="2800" dirty="0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 Protocol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arenR" startAt="13"/>
            </a:pPr>
            <a:r>
              <a:rPr lang="tr-TR" sz="2800" dirty="0" err="1">
                <a:solidFill>
                  <a:srgbClr val="002060">
                    <a:alpha val="70000"/>
                  </a:srgbClr>
                </a:solidFill>
                <a:cs typeface="Aharoni" panose="02010803020104030203" pitchFamily="2" charset="-79"/>
              </a:rPr>
              <a:t>Observability</a:t>
            </a: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>
              <a:buClr>
                <a:srgbClr val="002060"/>
              </a:buClr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514350" indent="-514350">
              <a:buClr>
                <a:srgbClr val="0070C0"/>
              </a:buClr>
              <a:buFont typeface="+mj-lt"/>
              <a:buAutoNum type="arabicParenR" startAt="13"/>
            </a:pPr>
            <a:endParaRPr lang="tr-TR" sz="2800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Outline</a:t>
            </a:r>
            <a:endParaRPr lang="tr-T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4" name="Cloud Callout 23">
            <a:extLst>
              <a:ext uri="{FF2B5EF4-FFF2-40B4-BE49-F238E27FC236}">
                <a16:creationId xmlns:a16="http://schemas.microsoft.com/office/drawing/2014/main" id="{DAB1CA48-37B1-4511-497B-68903279ACBB}"/>
              </a:ext>
            </a:extLst>
          </p:cNvPr>
          <p:cNvSpPr/>
          <p:nvPr/>
        </p:nvSpPr>
        <p:spPr>
          <a:xfrm>
            <a:off x="3404686" y="2371573"/>
            <a:ext cx="6050190" cy="2366951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MCP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servers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Creating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an MCP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client</a:t>
            </a:r>
            <a:endParaRPr lang="tr-TR" sz="16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Creating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and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MCP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Testing</a:t>
            </a:r>
            <a:r>
              <a:rPr lang="tr-TR" sz="16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MCP server</a:t>
            </a:r>
          </a:p>
        </p:txBody>
      </p:sp>
      <p:sp>
        <p:nvSpPr>
          <p:cNvPr id="3" name="Cloud Callout 2">
            <a:extLst>
              <a:ext uri="{FF2B5EF4-FFF2-40B4-BE49-F238E27FC236}">
                <a16:creationId xmlns:a16="http://schemas.microsoft.com/office/drawing/2014/main" id="{8E4F1335-80C2-9C0C-E4AF-48D965D0C4D5}"/>
              </a:ext>
            </a:extLst>
          </p:cNvPr>
          <p:cNvSpPr/>
          <p:nvPr/>
        </p:nvSpPr>
        <p:spPr>
          <a:xfrm>
            <a:off x="3331133" y="2399761"/>
            <a:ext cx="6050190" cy="2587700"/>
          </a:xfrm>
          <a:prstGeom prst="cloudCallou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Spring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boot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3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observability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Spring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Actuator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,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Micrometer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,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Prometheus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metrics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Loki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&amp;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Promtail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logging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Tempo,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Jaeger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&amp; OTLP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traces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Grafana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for</a:t>
            </a:r>
            <a:r>
              <a:rPr lang="tr-TR" sz="14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 </a:t>
            </a:r>
            <a:r>
              <a:rPr lang="tr-TR" sz="1400" dirty="0" err="1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</a:rPr>
              <a:t>visualization</a:t>
            </a: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400" dirty="0">
              <a:ln>
                <a:solidFill>
                  <a:srgbClr val="00206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552951-F075-8A20-57C2-D72B547422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250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" grpId="0" animBg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2011</TotalTime>
  <Words>337</Words>
  <Application>Microsoft Macintosh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16</cp:revision>
  <dcterms:created xsi:type="dcterms:W3CDTF">2025-10-29T22:10:39Z</dcterms:created>
  <dcterms:modified xsi:type="dcterms:W3CDTF">2026-05-13T09:58:13Z</dcterms:modified>
</cp:coreProperties>
</file>