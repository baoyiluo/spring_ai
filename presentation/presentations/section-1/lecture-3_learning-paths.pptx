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1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129"/>
    <p:restoredTop sz="94694"/>
  </p:normalViewPr>
  <p:slideViewPr>
    <p:cSldViewPr snapToGrid="0">
      <p:cViewPr varScale="1">
        <p:scale>
          <a:sx n="87" d="100"/>
          <a:sy n="87" d="100"/>
        </p:scale>
        <p:origin x="200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101325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36913"/>
            <a:ext cx="5431971" cy="915871"/>
          </a:xfrm>
        </p:spPr>
        <p:txBody>
          <a:bodyPr>
            <a:noAutofit/>
          </a:bodyPr>
          <a:lstStyle/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</a:rPr>
              <a:t>Path 1: Spring AI foundations</a:t>
            </a:r>
            <a:endParaRPr lang="tr-TR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2: Basic </a:t>
            </a:r>
            <a:r>
              <a:rPr lang="en-GB" sz="2000" i="1" dirty="0" err="1">
                <a:solidFill>
                  <a:srgbClr val="002060"/>
                </a:solidFill>
              </a:rPr>
              <a:t>GenAI</a:t>
            </a:r>
            <a:r>
              <a:rPr lang="en-GB" sz="2000" i="1" dirty="0">
                <a:solidFill>
                  <a:srgbClr val="002060"/>
                </a:solidFill>
              </a:rPr>
              <a:t> Use Cases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3: Advanced Spring AI Concepts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4: Prompt Engineering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6: </a:t>
            </a:r>
            <a:r>
              <a:rPr lang="en-GB" sz="2000" i="1" dirty="0" err="1">
                <a:solidFill>
                  <a:srgbClr val="002060"/>
                </a:solidFill>
              </a:rPr>
              <a:t>GenAI</a:t>
            </a:r>
            <a:r>
              <a:rPr lang="en-GB" sz="2000" i="1" dirty="0">
                <a:solidFill>
                  <a:srgbClr val="002060"/>
                </a:solidFill>
              </a:rPr>
              <a:t> and LLM Fundamentals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9: LLM Limitations &amp; Mitigations</a:t>
            </a:r>
          </a:p>
          <a:p>
            <a:pPr>
              <a:buClr>
                <a:srgbClr val="0070C0"/>
              </a:buClr>
            </a:pPr>
            <a:endParaRPr lang="tr-TR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4332514" y="0"/>
            <a:ext cx="4690616" cy="9158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Learning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Paths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Subtitle 9">
            <a:extLst>
              <a:ext uri="{FF2B5EF4-FFF2-40B4-BE49-F238E27FC236}">
                <a16:creationId xmlns:a16="http://schemas.microsoft.com/office/drawing/2014/main" id="{A33CC93E-BCB0-D11D-7DFF-F24245E61428}"/>
              </a:ext>
            </a:extLst>
          </p:cNvPr>
          <p:cNvSpPr txBox="1">
            <a:spLocks/>
          </p:cNvSpPr>
          <p:nvPr/>
        </p:nvSpPr>
        <p:spPr>
          <a:xfrm>
            <a:off x="6172200" y="1436912"/>
            <a:ext cx="5431971" cy="9158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</a:rPr>
              <a:t>Path 2: RAG systems</a:t>
            </a:r>
            <a:endParaRPr lang="tr-TR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10: RAG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4: Relevant prompt engineering ideas for better retrieval prompts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6: Selected fundamentals, if needed</a:t>
            </a:r>
          </a:p>
          <a:p>
            <a:pPr>
              <a:buClr>
                <a:srgbClr val="0070C0"/>
              </a:buClr>
            </a:pPr>
            <a:endParaRPr lang="tr-TR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  <p:sp>
        <p:nvSpPr>
          <p:cNvPr id="5" name="Subtitle 9">
            <a:extLst>
              <a:ext uri="{FF2B5EF4-FFF2-40B4-BE49-F238E27FC236}">
                <a16:creationId xmlns:a16="http://schemas.microsoft.com/office/drawing/2014/main" id="{8C7E6F9B-D051-4D2A-3FAC-92183E9D18DD}"/>
              </a:ext>
            </a:extLst>
          </p:cNvPr>
          <p:cNvSpPr txBox="1">
            <a:spLocks/>
          </p:cNvSpPr>
          <p:nvPr/>
        </p:nvSpPr>
        <p:spPr>
          <a:xfrm>
            <a:off x="141514" y="3821826"/>
            <a:ext cx="5431971" cy="9158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</a:rPr>
              <a:t>Path 3: Agents &amp; MCP</a:t>
            </a:r>
            <a:endParaRPr lang="tr-TR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11: AI Agents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12: Human-in-the-loop pattern in agent systems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13: MCP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7: Chat memory, as memory is often useful for agent-style systems</a:t>
            </a:r>
          </a:p>
          <a:p>
            <a:pPr>
              <a:buClr>
                <a:srgbClr val="0070C0"/>
              </a:buClr>
            </a:pPr>
            <a:endParaRPr lang="tr-TR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  <p:sp>
        <p:nvSpPr>
          <p:cNvPr id="7" name="Subtitle 9">
            <a:extLst>
              <a:ext uri="{FF2B5EF4-FFF2-40B4-BE49-F238E27FC236}">
                <a16:creationId xmlns:a16="http://schemas.microsoft.com/office/drawing/2014/main" id="{1D252015-273F-BB01-0E09-70E43E0B08ED}"/>
              </a:ext>
            </a:extLst>
          </p:cNvPr>
          <p:cNvSpPr txBox="1">
            <a:spLocks/>
          </p:cNvSpPr>
          <p:nvPr/>
        </p:nvSpPr>
        <p:spPr>
          <a:xfrm>
            <a:off x="6166757" y="3821826"/>
            <a:ext cx="5431971" cy="91587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</a:rPr>
              <a:t>Path 4: Production concerns &amp; reliability</a:t>
            </a:r>
            <a:endParaRPr lang="tr-TR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5: Prompt hacking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7: Chat memory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8: Multimodality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9: LLM Limitations &amp; Mitigations</a:t>
            </a:r>
          </a:p>
          <a:p>
            <a:pPr marL="800100" lvl="1" indent="-34290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2000" i="1" dirty="0">
                <a:solidFill>
                  <a:srgbClr val="002060"/>
                </a:solidFill>
              </a:rPr>
              <a:t>Section 14: Observability</a:t>
            </a:r>
          </a:p>
          <a:p>
            <a:pPr>
              <a:buClr>
                <a:srgbClr val="0070C0"/>
              </a:buClr>
            </a:pPr>
            <a:endParaRPr lang="tr-TR" dirty="0">
              <a:solidFill>
                <a:srgbClr val="002060">
                  <a:alpha val="70000"/>
                </a:srgbClr>
              </a:solidFill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4250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3255</TotalTime>
  <Words>156</Words>
  <Application>Microsoft Macintosh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15</cp:revision>
  <dcterms:created xsi:type="dcterms:W3CDTF">2025-10-29T22:10:39Z</dcterms:created>
  <dcterms:modified xsi:type="dcterms:W3CDTF">2026-05-11T20:50:15Z</dcterms:modified>
</cp:coreProperties>
</file>