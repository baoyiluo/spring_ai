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2" r:id="rId1"/>
  </p:sldMasterIdLst>
  <p:sldIdLst>
    <p:sldId id="256" r:id="rId2"/>
    <p:sldId id="265" r:id="rId3"/>
    <p:sldId id="266" r:id="rId4"/>
    <p:sldId id="267" r:id="rId5"/>
    <p:sldId id="262"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162"/>
    <p:restoredTop sz="94676"/>
  </p:normalViewPr>
  <p:slideViewPr>
    <p:cSldViewPr snapToGrid="0">
      <p:cViewPr varScale="1">
        <p:scale>
          <a:sx n="91" d="100"/>
          <a:sy n="91" d="100"/>
        </p:scale>
        <p:origin x="224" y="1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GB"/>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421999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792576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6969C88-B244-455D-A017-012B25B1ACDD}"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512909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76969C88-B244-455D-A017-012B25B1ACDD}" type="datetimeFigureOut">
              <a:rPr lang="en-US" smtClean="0"/>
              <a:t>2/25/26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36622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Date Placeholder 1"/>
          <p:cNvSpPr>
            <a:spLocks noGrp="1"/>
          </p:cNvSpPr>
          <p:nvPr>
            <p:ph type="dt" sz="half" idx="10"/>
          </p:nvPr>
        </p:nvSpPr>
        <p:spPr/>
        <p:txBody>
          <a:bodyPr/>
          <a:lstStyle/>
          <a:p>
            <a:fld id="{76969C88-B244-455D-A017-012B25B1ACDD}" type="datetimeFigureOut">
              <a:rPr lang="en-US" smtClean="0"/>
              <a:t>2/25/26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19265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2" name="Date Placeholder 1"/>
          <p:cNvSpPr>
            <a:spLocks noGrp="1"/>
          </p:cNvSpPr>
          <p:nvPr>
            <p:ph type="dt" sz="half" idx="10"/>
          </p:nvPr>
        </p:nvSpPr>
        <p:spPr/>
        <p:txBody>
          <a:bodyPr/>
          <a:lstStyle/>
          <a:p>
            <a:fld id="{76969C88-B244-455D-A017-012B25B1ACDD}" type="datetimeFigureOut">
              <a:rPr lang="en-US" smtClean="0"/>
              <a:t>2/25/26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681899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6969C88-B244-455D-A017-012B25B1ACDD}"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959235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76969C88-B244-455D-A017-012B25B1ACDD}" type="datetimeFigureOut">
              <a:rPr lang="en-US" smtClean="0"/>
              <a:t>2/25/26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791230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76969C88-B244-455D-A017-012B25B1ACDD}" type="datetimeFigureOut">
              <a:rPr lang="en-US" smtClean="0"/>
              <a:t>2/25/26</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465472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6969C88-B244-455D-A017-012B25B1ACDD}"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784139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6969C88-B244-455D-A017-012B25B1ACDD}"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562040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76969C88-B244-455D-A017-012B25B1ACDD}" type="datetimeFigureOut">
              <a:rPr lang="en-US" smtClean="0"/>
              <a:pPr/>
              <a:t>2/25/26</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1621677372"/>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9067DEA7-A679-D953-FF41-C1FD2565F2EE}"/>
              </a:ext>
            </a:extLst>
          </p:cNvPr>
          <p:cNvPicPr>
            <a:picLocks noChangeAspect="1"/>
          </p:cNvPicPr>
          <p:nvPr/>
        </p:nvPicPr>
        <p:blipFill>
          <a:blip r:embed="rId2"/>
          <a:srcRect t="15730"/>
          <a:stretch>
            <a:fillRect/>
          </a:stretch>
        </p:blipFill>
        <p:spPr>
          <a:xfrm>
            <a:off x="20" y="264611"/>
            <a:ext cx="12191980" cy="6858001"/>
          </a:xfrm>
          <a:custGeom>
            <a:avLst/>
            <a:gdLst/>
            <a:ahLst/>
            <a:cxnLst/>
            <a:rect l="l" t="t" r="r" b="b"/>
            <a:pathLst>
              <a:path w="12191999" h="6857999">
                <a:moveTo>
                  <a:pt x="0" y="0"/>
                </a:moveTo>
                <a:lnTo>
                  <a:pt x="12191999" y="0"/>
                </a:lnTo>
                <a:lnTo>
                  <a:pt x="12191999" y="6857999"/>
                </a:lnTo>
                <a:lnTo>
                  <a:pt x="4628129" y="6857999"/>
                </a:lnTo>
                <a:lnTo>
                  <a:pt x="4734519" y="6819371"/>
                </a:lnTo>
                <a:cubicBezTo>
                  <a:pt x="4938119" y="6741181"/>
                  <a:pt x="5132935" y="6652933"/>
                  <a:pt x="5315781" y="6551721"/>
                </a:cubicBezTo>
                <a:cubicBezTo>
                  <a:pt x="6619811" y="5830059"/>
                  <a:pt x="6364610" y="4934281"/>
                  <a:pt x="6058656" y="3948664"/>
                </a:cubicBezTo>
                <a:cubicBezTo>
                  <a:pt x="5601502" y="2476708"/>
                  <a:pt x="4958009" y="1222984"/>
                  <a:pt x="2540911" y="827627"/>
                </a:cubicBezTo>
                <a:cubicBezTo>
                  <a:pt x="1760946" y="699982"/>
                  <a:pt x="986522" y="591203"/>
                  <a:pt x="238021" y="541759"/>
                </a:cubicBezTo>
                <a:lnTo>
                  <a:pt x="0" y="529223"/>
                </a:lnTo>
                <a:close/>
              </a:path>
            </a:pathLst>
          </a:custGeom>
        </p:spPr>
      </p:pic>
      <p:sp>
        <p:nvSpPr>
          <p:cNvPr id="2" name="Title 1">
            <a:extLst>
              <a:ext uri="{FF2B5EF4-FFF2-40B4-BE49-F238E27FC236}">
                <a16:creationId xmlns:a16="http://schemas.microsoft.com/office/drawing/2014/main" id="{A065AD47-5479-14E4-B4FD-2FFB23578838}"/>
              </a:ext>
            </a:extLst>
          </p:cNvPr>
          <p:cNvSpPr>
            <a:spLocks noGrp="1"/>
          </p:cNvSpPr>
          <p:nvPr>
            <p:ph type="ctrTitle"/>
          </p:nvPr>
        </p:nvSpPr>
        <p:spPr>
          <a:xfrm>
            <a:off x="0" y="1407611"/>
            <a:ext cx="9785131" cy="2286000"/>
          </a:xfrm>
        </p:spPr>
        <p:txBody>
          <a:bodyPr>
            <a:normAutofit/>
          </a:bodyPr>
          <a:lstStyle/>
          <a:p>
            <a:pPr algn="l"/>
            <a:r>
              <a:rPr lang="tr-TR" dirty="0">
                <a:solidFill>
                  <a:schemeClr val="accent3">
                    <a:lumMod val="75000"/>
                  </a:schemeClr>
                </a:solidFill>
              </a:rPr>
              <a:t>Gen AI </a:t>
            </a:r>
            <a:r>
              <a:rPr lang="tr-TR" dirty="0" err="1">
                <a:solidFill>
                  <a:schemeClr val="accent3">
                    <a:lumMod val="75000"/>
                  </a:schemeClr>
                </a:solidFill>
              </a:rPr>
              <a:t>with</a:t>
            </a:r>
            <a:r>
              <a:rPr lang="tr-TR" dirty="0">
                <a:solidFill>
                  <a:schemeClr val="accent3">
                    <a:lumMod val="75000"/>
                  </a:schemeClr>
                </a:solidFill>
              </a:rPr>
              <a:t> Java </a:t>
            </a:r>
            <a:r>
              <a:rPr lang="tr-TR" dirty="0" err="1">
                <a:solidFill>
                  <a:schemeClr val="accent3">
                    <a:lumMod val="75000"/>
                  </a:schemeClr>
                </a:solidFill>
              </a:rPr>
              <a:t>and</a:t>
            </a:r>
            <a:r>
              <a:rPr lang="tr-TR" dirty="0">
                <a:solidFill>
                  <a:schemeClr val="accent3">
                    <a:lumMod val="75000"/>
                  </a:schemeClr>
                </a:solidFill>
              </a:rPr>
              <a:t> Spring</a:t>
            </a:r>
          </a:p>
        </p:txBody>
      </p:sp>
      <p:sp>
        <p:nvSpPr>
          <p:cNvPr id="3" name="Subtitle 2">
            <a:extLst>
              <a:ext uri="{FF2B5EF4-FFF2-40B4-BE49-F238E27FC236}">
                <a16:creationId xmlns:a16="http://schemas.microsoft.com/office/drawing/2014/main" id="{CF367FAE-7EB5-6617-48D0-92BD338C9105}"/>
              </a:ext>
            </a:extLst>
          </p:cNvPr>
          <p:cNvSpPr>
            <a:spLocks noGrp="1"/>
          </p:cNvSpPr>
          <p:nvPr>
            <p:ph type="subTitle" idx="1"/>
          </p:nvPr>
        </p:nvSpPr>
        <p:spPr>
          <a:xfrm>
            <a:off x="218629" y="3766202"/>
            <a:ext cx="4572000" cy="1524000"/>
          </a:xfrm>
        </p:spPr>
        <p:txBody>
          <a:bodyPr anchor="b">
            <a:normAutofit/>
          </a:bodyPr>
          <a:lstStyle/>
          <a:p>
            <a:pPr algn="l"/>
            <a:r>
              <a:rPr lang="tr-TR" dirty="0" err="1">
                <a:latin typeface="Gabriola" pitchFamily="82" charset="0"/>
                <a:cs typeface="Apple Chancery" panose="03020702040506060504" pitchFamily="66" charset="-79"/>
              </a:rPr>
              <a:t>By</a:t>
            </a:r>
            <a:r>
              <a:rPr lang="tr-TR" dirty="0">
                <a:latin typeface="Gabriola" pitchFamily="82" charset="0"/>
                <a:cs typeface="Apple Chancery" panose="03020702040506060504" pitchFamily="66" charset="-79"/>
              </a:rPr>
              <a:t> Ali Gelenler</a:t>
            </a:r>
          </a:p>
        </p:txBody>
      </p:sp>
      <p:pic>
        <p:nvPicPr>
          <p:cNvPr id="5" name="Picture 4" descr="A person smiling for the camera&#10;&#10;Description automatically generated">
            <a:extLst>
              <a:ext uri="{FF2B5EF4-FFF2-40B4-BE49-F238E27FC236}">
                <a16:creationId xmlns:a16="http://schemas.microsoft.com/office/drawing/2014/main" id="{01A85EC1-0397-5B85-A96E-F4002E1AE0D3}"/>
              </a:ext>
            </a:extLst>
          </p:cNvPr>
          <p:cNvPicPr>
            <a:picLocks noChangeAspect="1"/>
          </p:cNvPicPr>
          <p:nvPr/>
        </p:nvPicPr>
        <p:blipFill>
          <a:blip r:embed="rId3"/>
          <a:stretch>
            <a:fillRect/>
          </a:stretch>
        </p:blipFill>
        <p:spPr>
          <a:xfrm>
            <a:off x="2093382" y="4158969"/>
            <a:ext cx="822493" cy="1131233"/>
          </a:xfrm>
          <a:prstGeom prst="rect">
            <a:avLst/>
          </a:prstGeom>
          <a:effectLst>
            <a:glow rad="63500">
              <a:srgbClr val="002060">
                <a:alpha val="40000"/>
              </a:srgbClr>
            </a:glow>
            <a:softEdge rad="50800"/>
          </a:effectLst>
        </p:spPr>
      </p:pic>
    </p:spTree>
    <p:extLst>
      <p:ext uri="{BB962C8B-B14F-4D97-AF65-F5344CB8AC3E}">
        <p14:creationId xmlns:p14="http://schemas.microsoft.com/office/powerpoint/2010/main" val="199210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1000"/>
                                        <p:tgtEl>
                                          <p:spTgt spid="3">
                                            <p:txEl>
                                              <p:pRg st="0" end="0"/>
                                            </p:txEl>
                                          </p:spTgt>
                                        </p:tgtEl>
                                      </p:cBhvr>
                                    </p:animEffect>
                                  </p:childTnLst>
                                </p:cTn>
                              </p:par>
                            </p:childTnLst>
                          </p:cTn>
                        </p:par>
                        <p:par>
                          <p:cTn id="8" fill="hold">
                            <p:stCondLst>
                              <p:cond delay="10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9067DEA7-A679-D953-FF41-C1FD2565F2EE}"/>
              </a:ext>
            </a:extLst>
          </p:cNvPr>
          <p:cNvPicPr>
            <a:picLocks noChangeAspect="1"/>
          </p:cNvPicPr>
          <p:nvPr/>
        </p:nvPicPr>
        <p:blipFill>
          <a:blip r:embed="rId2"/>
          <a:srcRect t="15730"/>
          <a:stretch>
            <a:fillRect/>
          </a:stretch>
        </p:blipFill>
        <p:spPr>
          <a:xfrm>
            <a:off x="20" y="264611"/>
            <a:ext cx="12191980" cy="6858001"/>
          </a:xfrm>
          <a:custGeom>
            <a:avLst/>
            <a:gdLst/>
            <a:ahLst/>
            <a:cxnLst/>
            <a:rect l="l" t="t" r="r" b="b"/>
            <a:pathLst>
              <a:path w="12191999" h="6857999">
                <a:moveTo>
                  <a:pt x="0" y="0"/>
                </a:moveTo>
                <a:lnTo>
                  <a:pt x="12191999" y="0"/>
                </a:lnTo>
                <a:lnTo>
                  <a:pt x="12191999" y="6857999"/>
                </a:lnTo>
                <a:lnTo>
                  <a:pt x="4628129" y="6857999"/>
                </a:lnTo>
                <a:lnTo>
                  <a:pt x="4734519" y="6819371"/>
                </a:lnTo>
                <a:cubicBezTo>
                  <a:pt x="4938119" y="6741181"/>
                  <a:pt x="5132935" y="6652933"/>
                  <a:pt x="5315781" y="6551721"/>
                </a:cubicBezTo>
                <a:cubicBezTo>
                  <a:pt x="6619811" y="5830059"/>
                  <a:pt x="6364610" y="4934281"/>
                  <a:pt x="6058656" y="3948664"/>
                </a:cubicBezTo>
                <a:cubicBezTo>
                  <a:pt x="5601502" y="2476708"/>
                  <a:pt x="4958009" y="1222984"/>
                  <a:pt x="2540911" y="827627"/>
                </a:cubicBezTo>
                <a:cubicBezTo>
                  <a:pt x="1760946" y="699982"/>
                  <a:pt x="986522" y="591203"/>
                  <a:pt x="238021" y="541759"/>
                </a:cubicBezTo>
                <a:lnTo>
                  <a:pt x="0" y="529223"/>
                </a:lnTo>
                <a:close/>
              </a:path>
            </a:pathLst>
          </a:custGeom>
        </p:spPr>
      </p:pic>
      <p:sp>
        <p:nvSpPr>
          <p:cNvPr id="10" name="Subtitle 9">
            <a:extLst>
              <a:ext uri="{FF2B5EF4-FFF2-40B4-BE49-F238E27FC236}">
                <a16:creationId xmlns:a16="http://schemas.microsoft.com/office/drawing/2014/main" id="{0042004D-6542-CFF4-3784-78CFA5C0B3C1}"/>
              </a:ext>
            </a:extLst>
          </p:cNvPr>
          <p:cNvSpPr>
            <a:spLocks noGrp="1"/>
          </p:cNvSpPr>
          <p:nvPr>
            <p:ph type="subTitle" idx="1"/>
          </p:nvPr>
        </p:nvSpPr>
        <p:spPr>
          <a:xfrm>
            <a:off x="137580" y="1747573"/>
            <a:ext cx="10730580" cy="4556685"/>
          </a:xfrm>
        </p:spPr>
        <p:txBody>
          <a:bodyPr>
            <a:noAutofit/>
          </a:bodyPr>
          <a:lstStyle/>
          <a:p>
            <a:pPr marL="285750" indent="-285750">
              <a:buClr>
                <a:srgbClr val="002060"/>
              </a:buClr>
              <a:buFont typeface="Arial" panose="020B0604020202020204" pitchFamily="34" charset="0"/>
              <a:buChar char="•"/>
            </a:pPr>
            <a:endParaRPr lang="en-GB" sz="1800" dirty="0">
              <a:solidFill>
                <a:srgbClr val="002060"/>
              </a:solidFill>
            </a:endParaRPr>
          </a:p>
          <a:p>
            <a:pPr marL="285750" indent="-285750">
              <a:buClr>
                <a:srgbClr val="002060"/>
              </a:buClr>
              <a:buFont typeface="Arial" panose="020B0604020202020204" pitchFamily="34" charset="0"/>
              <a:buChar char="•"/>
            </a:pPr>
            <a:r>
              <a:rPr lang="en-GB" sz="1800" b="1" dirty="0">
                <a:solidFill>
                  <a:srgbClr val="002060"/>
                </a:solidFill>
              </a:rPr>
              <a:t>Execute deterministic tools </a:t>
            </a:r>
            <a:r>
              <a:rPr lang="en-GB" sz="1800" dirty="0">
                <a:solidFill>
                  <a:srgbClr val="002060"/>
                </a:solidFill>
              </a:rPr>
              <a:t>with typed parameters on behalf of an LLM</a:t>
            </a:r>
          </a:p>
          <a:p>
            <a:pPr marL="285750" indent="-285750">
              <a:buClr>
                <a:srgbClr val="002060"/>
              </a:buClr>
              <a:buFont typeface="Arial" panose="020B0604020202020204" pitchFamily="34" charset="0"/>
              <a:buChar char="•"/>
            </a:pPr>
            <a:r>
              <a:rPr lang="en-GB" sz="1800" dirty="0">
                <a:solidFill>
                  <a:srgbClr val="002060"/>
                </a:solidFill>
              </a:rPr>
              <a:t>Two reasons for function calling:</a:t>
            </a:r>
          </a:p>
          <a:p>
            <a:pPr marL="742950" lvl="1" indent="-285750" algn="l">
              <a:buClr>
                <a:srgbClr val="002060"/>
              </a:buClr>
              <a:buFont typeface="Wingdings" pitchFamily="2" charset="2"/>
              <a:buChar char="Ø"/>
            </a:pPr>
            <a:r>
              <a:rPr lang="en-GB" sz="1800" b="1" dirty="0">
                <a:solidFill>
                  <a:srgbClr val="002060"/>
                </a:solidFill>
              </a:rPr>
              <a:t>Information retrieval: </a:t>
            </a:r>
            <a:r>
              <a:rPr lang="en-GB" sz="1800" dirty="0">
                <a:solidFill>
                  <a:srgbClr val="002060"/>
                </a:solidFill>
              </a:rPr>
              <a:t>Helps on a rag scenario</a:t>
            </a:r>
          </a:p>
          <a:p>
            <a:pPr marL="742950" lvl="1" indent="-285750" algn="l">
              <a:buClr>
                <a:srgbClr val="002060"/>
              </a:buClr>
              <a:buFont typeface="Wingdings" pitchFamily="2" charset="2"/>
              <a:buChar char="Ø"/>
            </a:pPr>
            <a:r>
              <a:rPr lang="en-GB" sz="1800" b="1" dirty="0">
                <a:solidFill>
                  <a:srgbClr val="002060"/>
                </a:solidFill>
              </a:rPr>
              <a:t>Taking action: </a:t>
            </a:r>
            <a:r>
              <a:rPr lang="en-GB" sz="1800" dirty="0">
                <a:solidFill>
                  <a:srgbClr val="002060"/>
                </a:solidFill>
              </a:rPr>
              <a:t>Automate tasks that would otherwise require human interaction</a:t>
            </a:r>
          </a:p>
          <a:p>
            <a:pPr marL="285750" indent="-285750">
              <a:buClr>
                <a:srgbClr val="002060"/>
              </a:buClr>
              <a:buFont typeface="Arial" panose="020B0604020202020204" pitchFamily="34" charset="0"/>
              <a:buChar char="•"/>
            </a:pPr>
            <a:r>
              <a:rPr lang="en-GB" sz="1800" b="1" dirty="0">
                <a:solidFill>
                  <a:srgbClr val="002060"/>
                </a:solidFill>
              </a:rPr>
              <a:t>Best practices: </a:t>
            </a:r>
            <a:r>
              <a:rPr lang="en-GB" sz="1800" dirty="0">
                <a:solidFill>
                  <a:srgbClr val="002060"/>
                </a:solidFill>
              </a:rPr>
              <a:t>Strict schemas, Enums/regex, Bean Validation, idempotency keys, timeouts/retries, circuit breakers, sandboxing, </a:t>
            </a:r>
            <a:r>
              <a:rPr lang="en-GB" sz="1800" dirty="0" err="1">
                <a:solidFill>
                  <a:srgbClr val="002060"/>
                </a:solidFill>
              </a:rPr>
              <a:t>allowlists</a:t>
            </a:r>
            <a:r>
              <a:rPr lang="en-GB" sz="1800" dirty="0">
                <a:solidFill>
                  <a:srgbClr val="002060"/>
                </a:solidFill>
              </a:rPr>
              <a:t>, audit logs</a:t>
            </a:r>
          </a:p>
          <a:p>
            <a:pPr marL="285750" indent="-285750">
              <a:buClr>
                <a:srgbClr val="002060"/>
              </a:buClr>
              <a:buFont typeface="Arial" panose="020B0604020202020204" pitchFamily="34" charset="0"/>
              <a:buChar char="•"/>
            </a:pPr>
            <a:r>
              <a:rPr lang="en-GB" sz="1800" b="1" dirty="0">
                <a:solidFill>
                  <a:srgbClr val="002060"/>
                </a:solidFill>
              </a:rPr>
              <a:t>Failure modes: </a:t>
            </a:r>
            <a:r>
              <a:rPr lang="en-GB" sz="1800" dirty="0">
                <a:solidFill>
                  <a:srgbClr val="002060"/>
                </a:solidFill>
              </a:rPr>
              <a:t>Tool errors, latency, mitigation via retries/backoff, fallbacks, dry-run</a:t>
            </a:r>
          </a:p>
          <a:p>
            <a:pPr marL="285750" indent="-285750">
              <a:buClr>
                <a:srgbClr val="002060"/>
              </a:buClr>
              <a:buFont typeface="Arial" panose="020B0604020202020204" pitchFamily="34" charset="0"/>
              <a:buChar char="•"/>
            </a:pPr>
            <a:r>
              <a:rPr lang="en-GB" sz="1800" dirty="0">
                <a:solidFill>
                  <a:srgbClr val="002060"/>
                </a:solidFill>
              </a:rPr>
              <a:t>State the available tools with the </a:t>
            </a:r>
            <a:r>
              <a:rPr lang="en-GB" sz="1800" b="1" dirty="0">
                <a:solidFill>
                  <a:srgbClr val="002060"/>
                </a:solidFill>
              </a:rPr>
              <a:t>name, description and input schema </a:t>
            </a:r>
            <a:r>
              <a:rPr lang="en-GB" sz="1800" dirty="0">
                <a:solidFill>
                  <a:srgbClr val="002060"/>
                </a:solidFill>
              </a:rPr>
              <a:t>of the input parameters</a:t>
            </a:r>
          </a:p>
          <a:p>
            <a:pPr marL="285750" indent="-285750">
              <a:buClr>
                <a:srgbClr val="002060"/>
              </a:buClr>
              <a:buFont typeface="Arial" panose="020B0604020202020204" pitchFamily="34" charset="0"/>
              <a:buChar char="•"/>
            </a:pPr>
            <a:endParaRPr lang="en-GB" sz="1800" b="1"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a:p>
            <a:pPr lvl="1" algn="l">
              <a:buClr>
                <a:srgbClr val="002060"/>
              </a:buClr>
            </a:pPr>
            <a:endParaRPr lang="en-GB" sz="1800" dirty="0">
              <a:solidFill>
                <a:srgbClr val="002060"/>
              </a:solidFill>
            </a:endParaRPr>
          </a:p>
          <a:p>
            <a:pPr lvl="1" algn="l">
              <a:buClr>
                <a:srgbClr val="002060"/>
              </a:buCl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p:txBody>
      </p:sp>
      <p:sp>
        <p:nvSpPr>
          <p:cNvPr id="12" name="Title 1">
            <a:extLst>
              <a:ext uri="{FF2B5EF4-FFF2-40B4-BE49-F238E27FC236}">
                <a16:creationId xmlns:a16="http://schemas.microsoft.com/office/drawing/2014/main" id="{9E031194-A80C-CB30-F1D2-ACB257A30D9A}"/>
              </a:ext>
            </a:extLst>
          </p:cNvPr>
          <p:cNvSpPr txBox="1">
            <a:spLocks/>
          </p:cNvSpPr>
          <p:nvPr/>
        </p:nvSpPr>
        <p:spPr>
          <a:xfrm>
            <a:off x="0" y="-737720"/>
            <a:ext cx="9785131" cy="2286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r>
              <a:rPr lang="tr-TR" sz="4000" dirty="0" err="1">
                <a:solidFill>
                  <a:schemeClr val="accent3">
                    <a:lumMod val="75000"/>
                  </a:schemeClr>
                </a:solidFill>
              </a:rPr>
              <a:t>Tool</a:t>
            </a:r>
            <a:r>
              <a:rPr lang="tr-TR" sz="4000" dirty="0">
                <a:solidFill>
                  <a:schemeClr val="accent3">
                    <a:lumMod val="75000"/>
                  </a:schemeClr>
                </a:solidFill>
              </a:rPr>
              <a:t>/</a:t>
            </a:r>
            <a:r>
              <a:rPr lang="tr-TR" sz="4000" dirty="0" err="1">
                <a:solidFill>
                  <a:schemeClr val="accent3">
                    <a:lumMod val="75000"/>
                  </a:schemeClr>
                </a:solidFill>
              </a:rPr>
              <a:t>Function</a:t>
            </a:r>
            <a:r>
              <a:rPr lang="tr-TR" sz="4000" dirty="0">
                <a:solidFill>
                  <a:schemeClr val="accent3">
                    <a:lumMod val="75000"/>
                  </a:schemeClr>
                </a:solidFill>
              </a:rPr>
              <a:t> </a:t>
            </a:r>
            <a:r>
              <a:rPr lang="tr-TR" sz="4000" dirty="0" err="1">
                <a:solidFill>
                  <a:schemeClr val="accent3">
                    <a:lumMod val="75000"/>
                  </a:schemeClr>
                </a:solidFill>
              </a:rPr>
              <a:t>Calling</a:t>
            </a:r>
            <a:endParaRPr lang="tr-TR" sz="4000" dirty="0">
              <a:solidFill>
                <a:schemeClr val="accent3">
                  <a:lumMod val="75000"/>
                </a:schemeClr>
              </a:solidFill>
            </a:endParaRPr>
          </a:p>
        </p:txBody>
      </p:sp>
    </p:spTree>
    <p:extLst>
      <p:ext uri="{BB962C8B-B14F-4D97-AF65-F5344CB8AC3E}">
        <p14:creationId xmlns:p14="http://schemas.microsoft.com/office/powerpoint/2010/main" val="268823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linds(horizontal)">
                                      <p:cBhvr>
                                        <p:cTn id="7" dur="10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blinds(horizontal)">
                                      <p:cBhvr>
                                        <p:cTn id="12" dur="10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blinds(horizontal)">
                                      <p:cBhvr>
                                        <p:cTn id="17" dur="10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blinds(horizontal)">
                                      <p:cBhvr>
                                        <p:cTn id="22" dur="10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blinds(horizontal)">
                                      <p:cBhvr>
                                        <p:cTn id="27" dur="1000"/>
                                        <p:tgtEl>
                                          <p:spTgt spid="1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0">
                                            <p:txEl>
                                              <p:pRg st="6" end="6"/>
                                            </p:txEl>
                                          </p:spTgt>
                                        </p:tgtEl>
                                        <p:attrNameLst>
                                          <p:attrName>style.visibility</p:attrName>
                                        </p:attrNameLst>
                                      </p:cBhvr>
                                      <p:to>
                                        <p:strVal val="visible"/>
                                      </p:to>
                                    </p:set>
                                    <p:animEffect transition="in" filter="blinds(horizontal)">
                                      <p:cBhvr>
                                        <p:cTn id="32" dur="1000"/>
                                        <p:tgtEl>
                                          <p:spTgt spid="10">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animEffect transition="in" filter="blinds(horizontal)">
                                      <p:cBhvr>
                                        <p:cTn id="37" dur="10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9067DEA7-A679-D953-FF41-C1FD2565F2EE}"/>
              </a:ext>
            </a:extLst>
          </p:cNvPr>
          <p:cNvPicPr>
            <a:picLocks noChangeAspect="1"/>
          </p:cNvPicPr>
          <p:nvPr/>
        </p:nvPicPr>
        <p:blipFill>
          <a:blip r:embed="rId2"/>
          <a:srcRect t="15730"/>
          <a:stretch>
            <a:fillRect/>
          </a:stretch>
        </p:blipFill>
        <p:spPr>
          <a:xfrm>
            <a:off x="20" y="264611"/>
            <a:ext cx="12191980" cy="6858001"/>
          </a:xfrm>
          <a:custGeom>
            <a:avLst/>
            <a:gdLst/>
            <a:ahLst/>
            <a:cxnLst/>
            <a:rect l="l" t="t" r="r" b="b"/>
            <a:pathLst>
              <a:path w="12191999" h="6857999">
                <a:moveTo>
                  <a:pt x="0" y="0"/>
                </a:moveTo>
                <a:lnTo>
                  <a:pt x="12191999" y="0"/>
                </a:lnTo>
                <a:lnTo>
                  <a:pt x="12191999" y="6857999"/>
                </a:lnTo>
                <a:lnTo>
                  <a:pt x="4628129" y="6857999"/>
                </a:lnTo>
                <a:lnTo>
                  <a:pt x="4734519" y="6819371"/>
                </a:lnTo>
                <a:cubicBezTo>
                  <a:pt x="4938119" y="6741181"/>
                  <a:pt x="5132935" y="6652933"/>
                  <a:pt x="5315781" y="6551721"/>
                </a:cubicBezTo>
                <a:cubicBezTo>
                  <a:pt x="6619811" y="5830059"/>
                  <a:pt x="6364610" y="4934281"/>
                  <a:pt x="6058656" y="3948664"/>
                </a:cubicBezTo>
                <a:cubicBezTo>
                  <a:pt x="5601502" y="2476708"/>
                  <a:pt x="4958009" y="1222984"/>
                  <a:pt x="2540911" y="827627"/>
                </a:cubicBezTo>
                <a:cubicBezTo>
                  <a:pt x="1760946" y="699982"/>
                  <a:pt x="986522" y="591203"/>
                  <a:pt x="238021" y="541759"/>
                </a:cubicBezTo>
                <a:lnTo>
                  <a:pt x="0" y="529223"/>
                </a:lnTo>
                <a:close/>
              </a:path>
            </a:pathLst>
          </a:custGeom>
        </p:spPr>
      </p:pic>
      <p:sp>
        <p:nvSpPr>
          <p:cNvPr id="10" name="Subtitle 9">
            <a:extLst>
              <a:ext uri="{FF2B5EF4-FFF2-40B4-BE49-F238E27FC236}">
                <a16:creationId xmlns:a16="http://schemas.microsoft.com/office/drawing/2014/main" id="{0042004D-6542-CFF4-3784-78CFA5C0B3C1}"/>
              </a:ext>
            </a:extLst>
          </p:cNvPr>
          <p:cNvSpPr>
            <a:spLocks noGrp="1"/>
          </p:cNvSpPr>
          <p:nvPr>
            <p:ph type="subTitle" idx="1"/>
          </p:nvPr>
        </p:nvSpPr>
        <p:spPr>
          <a:xfrm>
            <a:off x="137580" y="1747573"/>
            <a:ext cx="10730580" cy="4556685"/>
          </a:xfrm>
        </p:spPr>
        <p:txBody>
          <a:bodyPr>
            <a:noAutofit/>
          </a:bodyPr>
          <a:lstStyle/>
          <a:p>
            <a:pPr marL="285750" indent="-285750">
              <a:buClr>
                <a:srgbClr val="002060"/>
              </a:buClr>
              <a:buFont typeface="Arial" panose="020B0604020202020204" pitchFamily="34" charset="0"/>
              <a:buChar char="•"/>
            </a:pPr>
            <a:endParaRPr lang="en-GB" sz="1800" dirty="0">
              <a:solidFill>
                <a:srgbClr val="002060"/>
              </a:solidFill>
            </a:endParaRPr>
          </a:p>
          <a:p>
            <a:pPr marL="342900" indent="-342900">
              <a:buClr>
                <a:srgbClr val="002060"/>
              </a:buClr>
              <a:buFont typeface="Arial" panose="020B0604020202020204" pitchFamily="34" charset="0"/>
              <a:buChar char="•"/>
            </a:pPr>
            <a:r>
              <a:rPr lang="en-GB" sz="1800" b="1" dirty="0">
                <a:solidFill>
                  <a:srgbClr val="002060"/>
                </a:solidFill>
              </a:rPr>
              <a:t>How tool calling is usually architected?</a:t>
            </a:r>
          </a:p>
          <a:p>
            <a:pPr marL="742950" lvl="1" indent="-285750" algn="l">
              <a:buClr>
                <a:srgbClr val="002060"/>
              </a:buClr>
              <a:buFont typeface="Wingdings" pitchFamily="2" charset="2"/>
              <a:buChar char="Ø"/>
            </a:pPr>
            <a:r>
              <a:rPr lang="en-GB" sz="1800" b="1" dirty="0">
                <a:solidFill>
                  <a:srgbClr val="002060"/>
                </a:solidFill>
              </a:rPr>
              <a:t>Model output (no privileges):</a:t>
            </a:r>
            <a:br>
              <a:rPr lang="en-GB" sz="1800" dirty="0">
                <a:solidFill>
                  <a:srgbClr val="002060"/>
                </a:solidFill>
              </a:rPr>
            </a:br>
            <a:r>
              <a:rPr lang="en-GB" sz="1800" dirty="0">
                <a:solidFill>
                  <a:srgbClr val="002060"/>
                </a:solidFill>
              </a:rPr>
              <a:t>The model emits a </a:t>
            </a:r>
            <a:r>
              <a:rPr lang="en-GB" sz="1800" b="1" dirty="0">
                <a:solidFill>
                  <a:srgbClr val="002060"/>
                </a:solidFill>
              </a:rPr>
              <a:t>structured message</a:t>
            </a:r>
            <a:r>
              <a:rPr lang="en-GB" sz="1800" dirty="0">
                <a:solidFill>
                  <a:srgbClr val="002060"/>
                </a:solidFill>
              </a:rPr>
              <a:t> like {"tool":"web_search","</a:t>
            </a:r>
            <a:r>
              <a:rPr lang="en-GB" sz="1800" dirty="0" err="1">
                <a:solidFill>
                  <a:srgbClr val="002060"/>
                </a:solidFill>
              </a:rPr>
              <a:t>args</a:t>
            </a:r>
            <a:r>
              <a:rPr lang="en-GB" sz="1800" dirty="0">
                <a:solidFill>
                  <a:srgbClr val="002060"/>
                </a:solidFill>
              </a:rPr>
              <a:t>":{"q":"..."}}</a:t>
            </a:r>
          </a:p>
          <a:p>
            <a:pPr marL="742950" lvl="1" indent="-285750" algn="l">
              <a:buClr>
                <a:srgbClr val="002060"/>
              </a:buClr>
              <a:buFont typeface="Wingdings" pitchFamily="2" charset="2"/>
              <a:buChar char="Ø"/>
            </a:pPr>
            <a:r>
              <a:rPr lang="en-GB" sz="1800" b="1" dirty="0">
                <a:solidFill>
                  <a:srgbClr val="002060"/>
                </a:solidFill>
              </a:rPr>
              <a:t>Orchestrator / client (privileged):</a:t>
            </a:r>
            <a:br>
              <a:rPr lang="en-GB" sz="1800" dirty="0">
                <a:solidFill>
                  <a:srgbClr val="002060"/>
                </a:solidFill>
              </a:rPr>
            </a:br>
            <a:r>
              <a:rPr lang="en-GB" sz="1800" dirty="0">
                <a:solidFill>
                  <a:srgbClr val="002060"/>
                </a:solidFill>
              </a:rPr>
              <a:t>Your app inspects that request, checks policy, and—if allowed—executes the tool (code you control) with credentials stored </a:t>
            </a:r>
            <a:r>
              <a:rPr lang="en-GB" sz="1800" b="1" dirty="0">
                <a:solidFill>
                  <a:srgbClr val="002060"/>
                </a:solidFill>
              </a:rPr>
              <a:t>outside</a:t>
            </a:r>
            <a:r>
              <a:rPr lang="en-GB" sz="1800" dirty="0">
                <a:solidFill>
                  <a:srgbClr val="002060"/>
                </a:solidFill>
              </a:rPr>
              <a:t> of the model context</a:t>
            </a:r>
          </a:p>
          <a:p>
            <a:pPr marL="742950" lvl="1" indent="-285750" algn="l">
              <a:buClr>
                <a:srgbClr val="002060"/>
              </a:buClr>
              <a:buFont typeface="Wingdings" pitchFamily="2" charset="2"/>
              <a:buChar char="Ø"/>
            </a:pPr>
            <a:r>
              <a:rPr lang="en-GB" sz="1800" b="1" dirty="0">
                <a:solidFill>
                  <a:srgbClr val="002060"/>
                </a:solidFill>
              </a:rPr>
              <a:t>Sanitized result back to the model:</a:t>
            </a:r>
            <a:br>
              <a:rPr lang="en-GB" sz="1800" dirty="0">
                <a:solidFill>
                  <a:srgbClr val="002060"/>
                </a:solidFill>
              </a:rPr>
            </a:br>
            <a:r>
              <a:rPr lang="en-GB" sz="1800" dirty="0">
                <a:solidFill>
                  <a:srgbClr val="002060"/>
                </a:solidFill>
              </a:rPr>
              <a:t>The tool’s output (ideally sanitized/filtered) is returned to the model </a:t>
            </a:r>
            <a:r>
              <a:rPr lang="en-GB" sz="1800" b="1" dirty="0">
                <a:solidFill>
                  <a:srgbClr val="002060"/>
                </a:solidFill>
              </a:rPr>
              <a:t>as data</a:t>
            </a:r>
            <a:r>
              <a:rPr lang="en-GB" sz="1800" dirty="0">
                <a:solidFill>
                  <a:srgbClr val="002060"/>
                </a:solidFill>
              </a:rPr>
              <a:t>, not as instructions</a:t>
            </a:r>
          </a:p>
          <a:p>
            <a:pPr marL="742950" lvl="1" indent="-285750" algn="l">
              <a:buClr>
                <a:srgbClr val="002060"/>
              </a:buClr>
              <a:buFont typeface="Wingdings" pitchFamily="2" charset="2"/>
              <a:buChar char="Ø"/>
            </a:pPr>
            <a:r>
              <a:rPr lang="en-GB" sz="1800" b="1" dirty="0">
                <a:solidFill>
                  <a:srgbClr val="002060"/>
                </a:solidFill>
              </a:rPr>
              <a:t>Repeat / finalize:</a:t>
            </a:r>
            <a:br>
              <a:rPr lang="en-GB" sz="1800" dirty="0">
                <a:solidFill>
                  <a:srgbClr val="002060"/>
                </a:solidFill>
              </a:rPr>
            </a:br>
            <a:r>
              <a:rPr lang="en-GB" sz="1800" dirty="0">
                <a:solidFill>
                  <a:srgbClr val="002060"/>
                </a:solidFill>
              </a:rPr>
              <a:t>The </a:t>
            </a:r>
            <a:r>
              <a:rPr lang="en-GB" sz="1800" b="1" dirty="0">
                <a:solidFill>
                  <a:srgbClr val="002060"/>
                </a:solidFill>
              </a:rPr>
              <a:t>model uses the new data </a:t>
            </a:r>
            <a:r>
              <a:rPr lang="en-GB" sz="1800" dirty="0">
                <a:solidFill>
                  <a:srgbClr val="002060"/>
                </a:solidFill>
              </a:rPr>
              <a:t>to produce another call or a final answer</a:t>
            </a:r>
          </a:p>
          <a:p>
            <a:pPr marL="342900" indent="-342900">
              <a:buClr>
                <a:srgbClr val="002060"/>
              </a:buClr>
              <a:buFont typeface="Arial" panose="020B0604020202020204" pitchFamily="34" charset="0"/>
              <a:buChar cha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b="1"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a:p>
            <a:pPr lvl="1" algn="l">
              <a:buClr>
                <a:srgbClr val="002060"/>
              </a:buClr>
            </a:pPr>
            <a:endParaRPr lang="en-GB" sz="1800" dirty="0">
              <a:solidFill>
                <a:srgbClr val="002060"/>
              </a:solidFill>
            </a:endParaRPr>
          </a:p>
          <a:p>
            <a:pPr lvl="1" algn="l">
              <a:buClr>
                <a:srgbClr val="002060"/>
              </a:buCl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p:txBody>
      </p:sp>
      <p:sp>
        <p:nvSpPr>
          <p:cNvPr id="12" name="Title 1">
            <a:extLst>
              <a:ext uri="{FF2B5EF4-FFF2-40B4-BE49-F238E27FC236}">
                <a16:creationId xmlns:a16="http://schemas.microsoft.com/office/drawing/2014/main" id="{9E031194-A80C-CB30-F1D2-ACB257A30D9A}"/>
              </a:ext>
            </a:extLst>
          </p:cNvPr>
          <p:cNvSpPr txBox="1">
            <a:spLocks/>
          </p:cNvSpPr>
          <p:nvPr/>
        </p:nvSpPr>
        <p:spPr>
          <a:xfrm>
            <a:off x="0" y="-737720"/>
            <a:ext cx="9785131" cy="2286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r>
              <a:rPr lang="tr-TR" sz="4000" dirty="0" err="1">
                <a:solidFill>
                  <a:schemeClr val="accent3">
                    <a:lumMod val="75000"/>
                  </a:schemeClr>
                </a:solidFill>
              </a:rPr>
              <a:t>Tool</a:t>
            </a:r>
            <a:r>
              <a:rPr lang="tr-TR" sz="4000" dirty="0">
                <a:solidFill>
                  <a:schemeClr val="accent3">
                    <a:lumMod val="75000"/>
                  </a:schemeClr>
                </a:solidFill>
              </a:rPr>
              <a:t> </a:t>
            </a:r>
            <a:r>
              <a:rPr lang="tr-TR" sz="4000" dirty="0" err="1">
                <a:solidFill>
                  <a:schemeClr val="accent3">
                    <a:lumMod val="75000"/>
                  </a:schemeClr>
                </a:solidFill>
              </a:rPr>
              <a:t>Calling</a:t>
            </a:r>
            <a:r>
              <a:rPr lang="tr-TR" sz="4000" dirty="0">
                <a:solidFill>
                  <a:schemeClr val="accent3">
                    <a:lumMod val="75000"/>
                  </a:schemeClr>
                </a:solidFill>
              </a:rPr>
              <a:t> Architecture</a:t>
            </a:r>
          </a:p>
        </p:txBody>
      </p:sp>
    </p:spTree>
    <p:extLst>
      <p:ext uri="{BB962C8B-B14F-4D97-AF65-F5344CB8AC3E}">
        <p14:creationId xmlns:p14="http://schemas.microsoft.com/office/powerpoint/2010/main" val="206931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linds(horizontal)">
                                      <p:cBhvr>
                                        <p:cTn id="7" dur="10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blinds(horizontal)">
                                      <p:cBhvr>
                                        <p:cTn id="12" dur="10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blinds(horizontal)">
                                      <p:cBhvr>
                                        <p:cTn id="17" dur="10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blinds(horizontal)">
                                      <p:cBhvr>
                                        <p:cTn id="22" dur="10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blinds(horizontal)">
                                      <p:cBhvr>
                                        <p:cTn id="27" dur="10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9067DEA7-A679-D953-FF41-C1FD2565F2EE}"/>
              </a:ext>
            </a:extLst>
          </p:cNvPr>
          <p:cNvPicPr>
            <a:picLocks noChangeAspect="1"/>
          </p:cNvPicPr>
          <p:nvPr/>
        </p:nvPicPr>
        <p:blipFill>
          <a:blip r:embed="rId2"/>
          <a:srcRect t="15730"/>
          <a:stretch>
            <a:fillRect/>
          </a:stretch>
        </p:blipFill>
        <p:spPr>
          <a:xfrm>
            <a:off x="20" y="264611"/>
            <a:ext cx="12191980" cy="6858001"/>
          </a:xfrm>
          <a:custGeom>
            <a:avLst/>
            <a:gdLst/>
            <a:ahLst/>
            <a:cxnLst/>
            <a:rect l="l" t="t" r="r" b="b"/>
            <a:pathLst>
              <a:path w="12191999" h="6857999">
                <a:moveTo>
                  <a:pt x="0" y="0"/>
                </a:moveTo>
                <a:lnTo>
                  <a:pt x="12191999" y="0"/>
                </a:lnTo>
                <a:lnTo>
                  <a:pt x="12191999" y="6857999"/>
                </a:lnTo>
                <a:lnTo>
                  <a:pt x="4628129" y="6857999"/>
                </a:lnTo>
                <a:lnTo>
                  <a:pt x="4734519" y="6819371"/>
                </a:lnTo>
                <a:cubicBezTo>
                  <a:pt x="4938119" y="6741181"/>
                  <a:pt x="5132935" y="6652933"/>
                  <a:pt x="5315781" y="6551721"/>
                </a:cubicBezTo>
                <a:cubicBezTo>
                  <a:pt x="6619811" y="5830059"/>
                  <a:pt x="6364610" y="4934281"/>
                  <a:pt x="6058656" y="3948664"/>
                </a:cubicBezTo>
                <a:cubicBezTo>
                  <a:pt x="5601502" y="2476708"/>
                  <a:pt x="4958009" y="1222984"/>
                  <a:pt x="2540911" y="827627"/>
                </a:cubicBezTo>
                <a:cubicBezTo>
                  <a:pt x="1760946" y="699982"/>
                  <a:pt x="986522" y="591203"/>
                  <a:pt x="238021" y="541759"/>
                </a:cubicBezTo>
                <a:lnTo>
                  <a:pt x="0" y="529223"/>
                </a:lnTo>
                <a:close/>
              </a:path>
            </a:pathLst>
          </a:custGeom>
        </p:spPr>
      </p:pic>
      <p:sp>
        <p:nvSpPr>
          <p:cNvPr id="10" name="Subtitle 9">
            <a:extLst>
              <a:ext uri="{FF2B5EF4-FFF2-40B4-BE49-F238E27FC236}">
                <a16:creationId xmlns:a16="http://schemas.microsoft.com/office/drawing/2014/main" id="{0042004D-6542-CFF4-3784-78CFA5C0B3C1}"/>
              </a:ext>
            </a:extLst>
          </p:cNvPr>
          <p:cNvSpPr>
            <a:spLocks noGrp="1"/>
          </p:cNvSpPr>
          <p:nvPr>
            <p:ph type="subTitle" idx="1"/>
          </p:nvPr>
        </p:nvSpPr>
        <p:spPr>
          <a:xfrm>
            <a:off x="137580" y="1747573"/>
            <a:ext cx="10730580" cy="4556685"/>
          </a:xfrm>
        </p:spPr>
        <p:txBody>
          <a:bodyPr>
            <a:noAutofit/>
          </a:bodyPr>
          <a:lstStyle/>
          <a:p>
            <a:pPr marL="285750" indent="-285750">
              <a:buClr>
                <a:srgbClr val="002060"/>
              </a:buClr>
              <a:buFont typeface="Arial" panose="020B0604020202020204" pitchFamily="34" charset="0"/>
              <a:buChar char="•"/>
            </a:pPr>
            <a:endParaRPr lang="en-GB" sz="1800" dirty="0">
              <a:solidFill>
                <a:srgbClr val="002060"/>
              </a:solidFill>
            </a:endParaRPr>
          </a:p>
          <a:p>
            <a:pPr marL="285750" indent="-285750">
              <a:buClr>
                <a:srgbClr val="002060"/>
              </a:buClr>
              <a:buFont typeface="Arial" panose="020B0604020202020204" pitchFamily="34" charset="0"/>
              <a:buChar char="•"/>
            </a:pPr>
            <a:r>
              <a:rPr lang="en-GB" sz="1800" dirty="0">
                <a:solidFill>
                  <a:srgbClr val="002060"/>
                </a:solidFill>
              </a:rPr>
              <a:t>H</a:t>
            </a:r>
            <a:r>
              <a:rPr lang="en-GB" sz="1800" dirty="0">
                <a:solidFill>
                  <a:srgbClr val="002060"/>
                </a:solidFill>
                <a:effectLst/>
              </a:rPr>
              <a:t>aving </a:t>
            </a:r>
            <a:r>
              <a:rPr lang="en-GB" sz="1800" b="1" dirty="0">
                <a:solidFill>
                  <a:srgbClr val="002060"/>
                </a:solidFill>
                <a:effectLst/>
              </a:rPr>
              <a:t>too many </a:t>
            </a:r>
            <a:r>
              <a:rPr lang="en-GB" sz="1800" dirty="0">
                <a:solidFill>
                  <a:srgbClr val="002060"/>
                </a:solidFill>
                <a:effectLst/>
              </a:rPr>
              <a:t>tools, or using them too aggressively, can hurt an AI app’s performance and reliability. It increases latency and cost, and it also makes the model more likely to pick the wrong tool or call tools unnecessarily:</a:t>
            </a:r>
          </a:p>
          <a:p>
            <a:pPr marL="742950" lvl="1" indent="-285750" algn="l">
              <a:buClr>
                <a:srgbClr val="002060"/>
              </a:buClr>
              <a:buFont typeface="Wingdings" pitchFamily="2" charset="2"/>
              <a:buChar char="Ø"/>
            </a:pPr>
            <a:r>
              <a:rPr lang="en-GB" sz="1800" dirty="0">
                <a:solidFill>
                  <a:srgbClr val="002060"/>
                </a:solidFill>
              </a:rPr>
              <a:t>Selection errors</a:t>
            </a:r>
          </a:p>
          <a:p>
            <a:pPr marL="742950" lvl="1" indent="-285750" algn="l">
              <a:buClr>
                <a:srgbClr val="002060"/>
              </a:buClr>
              <a:buFont typeface="Wingdings" pitchFamily="2" charset="2"/>
              <a:buChar char="Ø"/>
            </a:pPr>
            <a:r>
              <a:rPr lang="en-GB" sz="1800" dirty="0">
                <a:solidFill>
                  <a:srgbClr val="002060"/>
                </a:solidFill>
                <a:effectLst/>
              </a:rPr>
              <a:t>Increased token usage</a:t>
            </a:r>
          </a:p>
          <a:p>
            <a:pPr marL="742950" lvl="1" indent="-285750" algn="l">
              <a:buClr>
                <a:srgbClr val="002060"/>
              </a:buClr>
              <a:buFont typeface="Wingdings" pitchFamily="2" charset="2"/>
              <a:buChar char="Ø"/>
            </a:pPr>
            <a:r>
              <a:rPr lang="en-GB" sz="1800" dirty="0">
                <a:solidFill>
                  <a:srgbClr val="002060"/>
                </a:solidFill>
              </a:rPr>
              <a:t>Longer call chains</a:t>
            </a:r>
          </a:p>
          <a:p>
            <a:pPr marL="742950" lvl="1" indent="-285750" algn="l">
              <a:buClr>
                <a:srgbClr val="002060"/>
              </a:buClr>
              <a:buFont typeface="Wingdings" pitchFamily="2" charset="2"/>
              <a:buChar char="Ø"/>
            </a:pPr>
            <a:r>
              <a:rPr lang="en-GB" sz="1800" dirty="0">
                <a:solidFill>
                  <a:srgbClr val="002060"/>
                </a:solidFill>
                <a:effectLst/>
              </a:rPr>
              <a:t>Latency spikes</a:t>
            </a:r>
          </a:p>
          <a:p>
            <a:pPr marL="742950" lvl="1" indent="-285750" algn="l">
              <a:buClr>
                <a:srgbClr val="002060"/>
              </a:buClr>
              <a:buFont typeface="Wingdings" pitchFamily="2" charset="2"/>
              <a:buChar char="Ø"/>
            </a:pPr>
            <a:r>
              <a:rPr lang="en-GB" sz="1800" dirty="0">
                <a:solidFill>
                  <a:srgbClr val="002060"/>
                </a:solidFill>
              </a:rPr>
              <a:t>Cascading failures</a:t>
            </a:r>
          </a:p>
          <a:p>
            <a:pPr marL="742950" lvl="1" indent="-285750" algn="l">
              <a:buClr>
                <a:srgbClr val="002060"/>
              </a:buClr>
              <a:buFont typeface="Wingdings" pitchFamily="2" charset="2"/>
              <a:buChar char="Ø"/>
            </a:pPr>
            <a:r>
              <a:rPr lang="en-GB" sz="1800" dirty="0">
                <a:solidFill>
                  <a:srgbClr val="002060"/>
                </a:solidFill>
                <a:effectLst/>
              </a:rPr>
              <a:t>Security </a:t>
            </a:r>
          </a:p>
          <a:p>
            <a:pPr marL="742950" lvl="1" indent="-285750" algn="l">
              <a:buClr>
                <a:srgbClr val="002060"/>
              </a:buClr>
              <a:buFont typeface="Wingdings" pitchFamily="2" charset="2"/>
              <a:buChar char="Ø"/>
            </a:pPr>
            <a:r>
              <a:rPr lang="en-GB" sz="1800" dirty="0">
                <a:solidFill>
                  <a:srgbClr val="002060"/>
                </a:solidFill>
              </a:rPr>
              <a:t>Observability</a:t>
            </a:r>
            <a:endParaRPr lang="en-GB" sz="1800" dirty="0">
              <a:solidFill>
                <a:srgbClr val="002060"/>
              </a:solidFill>
              <a:effectLst/>
            </a:endParaRPr>
          </a:p>
          <a:p>
            <a:pPr marL="342900" indent="-342900">
              <a:buClr>
                <a:srgbClr val="002060"/>
              </a:buClr>
              <a:buFont typeface="Arial" panose="020B0604020202020204" pitchFamily="34" charset="0"/>
              <a:buChar cha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b="1"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a:p>
            <a:pPr lvl="1" algn="l">
              <a:buClr>
                <a:srgbClr val="002060"/>
              </a:buClr>
            </a:pPr>
            <a:endParaRPr lang="en-GB" sz="1800" dirty="0">
              <a:solidFill>
                <a:srgbClr val="002060"/>
              </a:solidFill>
            </a:endParaRPr>
          </a:p>
          <a:p>
            <a:pPr lvl="1" algn="l">
              <a:buClr>
                <a:srgbClr val="002060"/>
              </a:buClr>
            </a:pPr>
            <a:endParaRPr lang="en-GB" sz="1800" dirty="0">
              <a:solidFill>
                <a:srgbClr val="002060"/>
              </a:solidFill>
            </a:endParaRPr>
          </a:p>
          <a:p>
            <a:pPr marL="285750" indent="-285750">
              <a:buClr>
                <a:srgbClr val="002060"/>
              </a:buClr>
              <a:buFont typeface="Arial" panose="020B0604020202020204" pitchFamily="34" charset="0"/>
              <a:buChar char="•"/>
            </a:pPr>
            <a:endParaRPr lang="en-GB" sz="1800" dirty="0">
              <a:solidFill>
                <a:srgbClr val="002060"/>
              </a:solidFill>
            </a:endParaRPr>
          </a:p>
        </p:txBody>
      </p:sp>
      <p:sp>
        <p:nvSpPr>
          <p:cNvPr id="12" name="Title 1">
            <a:extLst>
              <a:ext uri="{FF2B5EF4-FFF2-40B4-BE49-F238E27FC236}">
                <a16:creationId xmlns:a16="http://schemas.microsoft.com/office/drawing/2014/main" id="{9E031194-A80C-CB30-F1D2-ACB257A30D9A}"/>
              </a:ext>
            </a:extLst>
          </p:cNvPr>
          <p:cNvSpPr txBox="1">
            <a:spLocks/>
          </p:cNvSpPr>
          <p:nvPr/>
        </p:nvSpPr>
        <p:spPr>
          <a:xfrm>
            <a:off x="0" y="-737720"/>
            <a:ext cx="9785131" cy="2286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900" kern="1200" spc="-100" baseline="0">
                <a:solidFill>
                  <a:srgbClr val="FFFFFF"/>
                </a:solidFill>
                <a:latin typeface="+mj-lt"/>
                <a:ea typeface="+mj-ea"/>
                <a:cs typeface="+mj-cs"/>
              </a:defRPr>
            </a:lvl1pPr>
          </a:lstStyle>
          <a:p>
            <a:r>
              <a:rPr lang="tr-TR" sz="4000" dirty="0">
                <a:solidFill>
                  <a:schemeClr val="accent3">
                    <a:lumMod val="75000"/>
                  </a:schemeClr>
                </a:solidFill>
              </a:rPr>
              <a:t>Using </a:t>
            </a:r>
            <a:r>
              <a:rPr lang="tr-TR" sz="4000" dirty="0" err="1">
                <a:solidFill>
                  <a:schemeClr val="accent3">
                    <a:lumMod val="75000"/>
                  </a:schemeClr>
                </a:solidFill>
              </a:rPr>
              <a:t>too</a:t>
            </a:r>
            <a:r>
              <a:rPr lang="tr-TR" sz="4000" dirty="0">
                <a:solidFill>
                  <a:schemeClr val="accent3">
                    <a:lumMod val="75000"/>
                  </a:schemeClr>
                </a:solidFill>
              </a:rPr>
              <a:t> </a:t>
            </a:r>
            <a:r>
              <a:rPr lang="tr-TR" sz="4000" dirty="0" err="1">
                <a:solidFill>
                  <a:schemeClr val="accent3">
                    <a:lumMod val="75000"/>
                  </a:schemeClr>
                </a:solidFill>
              </a:rPr>
              <a:t>many</a:t>
            </a:r>
            <a:r>
              <a:rPr lang="tr-TR" sz="4000" dirty="0">
                <a:solidFill>
                  <a:schemeClr val="accent3">
                    <a:lumMod val="75000"/>
                  </a:schemeClr>
                </a:solidFill>
              </a:rPr>
              <a:t> </a:t>
            </a:r>
            <a:r>
              <a:rPr lang="tr-TR" sz="4000" dirty="0" err="1">
                <a:solidFill>
                  <a:schemeClr val="accent3">
                    <a:lumMod val="75000"/>
                  </a:schemeClr>
                </a:solidFill>
              </a:rPr>
              <a:t>tools</a:t>
            </a:r>
            <a:r>
              <a:rPr lang="tr-TR" sz="4000" dirty="0">
                <a:solidFill>
                  <a:schemeClr val="accent3">
                    <a:lumMod val="75000"/>
                  </a:schemeClr>
                </a:solidFill>
              </a:rPr>
              <a:t>?</a:t>
            </a:r>
          </a:p>
        </p:txBody>
      </p:sp>
    </p:spTree>
    <p:extLst>
      <p:ext uri="{BB962C8B-B14F-4D97-AF65-F5344CB8AC3E}">
        <p14:creationId xmlns:p14="http://schemas.microsoft.com/office/powerpoint/2010/main" val="382473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linds(horizontal)">
                                      <p:cBhvr>
                                        <p:cTn id="7" dur="10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blinds(horizontal)">
                                      <p:cBhvr>
                                        <p:cTn id="12" dur="1000"/>
                                        <p:tgtEl>
                                          <p:spTgt spid="10">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blinds(horizontal)">
                                      <p:cBhvr>
                                        <p:cTn id="15" dur="1000"/>
                                        <p:tgtEl>
                                          <p:spTgt spid="10">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blinds(horizontal)">
                                      <p:cBhvr>
                                        <p:cTn id="18" dur="1000"/>
                                        <p:tgtEl>
                                          <p:spTgt spid="10">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animEffect transition="in" filter="blinds(horizontal)">
                                      <p:cBhvr>
                                        <p:cTn id="21" dur="1000"/>
                                        <p:tgtEl>
                                          <p:spTgt spid="10">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0">
                                            <p:txEl>
                                              <p:pRg st="6" end="6"/>
                                            </p:txEl>
                                          </p:spTgt>
                                        </p:tgtEl>
                                        <p:attrNameLst>
                                          <p:attrName>style.visibility</p:attrName>
                                        </p:attrNameLst>
                                      </p:cBhvr>
                                      <p:to>
                                        <p:strVal val="visible"/>
                                      </p:to>
                                    </p:set>
                                    <p:animEffect transition="in" filter="blinds(horizontal)">
                                      <p:cBhvr>
                                        <p:cTn id="24" dur="1000"/>
                                        <p:tgtEl>
                                          <p:spTgt spid="10">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animEffect transition="in" filter="blinds(horizontal)">
                                      <p:cBhvr>
                                        <p:cTn id="27" dur="1000"/>
                                        <p:tgtEl>
                                          <p:spTgt spid="10">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0">
                                            <p:txEl>
                                              <p:pRg st="8" end="8"/>
                                            </p:txEl>
                                          </p:spTgt>
                                        </p:tgtEl>
                                        <p:attrNameLst>
                                          <p:attrName>style.visibility</p:attrName>
                                        </p:attrNameLst>
                                      </p:cBhvr>
                                      <p:to>
                                        <p:strVal val="visible"/>
                                      </p:to>
                                    </p:set>
                                    <p:animEffect transition="in" filter="blinds(horizontal)">
                                      <p:cBhvr>
                                        <p:cTn id="30" dur="10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9067DEA7-A679-D953-FF41-C1FD2565F2EE}"/>
              </a:ext>
            </a:extLst>
          </p:cNvPr>
          <p:cNvPicPr>
            <a:picLocks noChangeAspect="1"/>
          </p:cNvPicPr>
          <p:nvPr/>
        </p:nvPicPr>
        <p:blipFill>
          <a:blip r:embed="rId2"/>
          <a:srcRect t="15730"/>
          <a:stretch>
            <a:fillRect/>
          </a:stretch>
        </p:blipFill>
        <p:spPr>
          <a:xfrm>
            <a:off x="20" y="264611"/>
            <a:ext cx="12191980" cy="6858001"/>
          </a:xfrm>
          <a:custGeom>
            <a:avLst/>
            <a:gdLst/>
            <a:ahLst/>
            <a:cxnLst/>
            <a:rect l="l" t="t" r="r" b="b"/>
            <a:pathLst>
              <a:path w="12191999" h="6857999">
                <a:moveTo>
                  <a:pt x="0" y="0"/>
                </a:moveTo>
                <a:lnTo>
                  <a:pt x="12191999" y="0"/>
                </a:lnTo>
                <a:lnTo>
                  <a:pt x="12191999" y="6857999"/>
                </a:lnTo>
                <a:lnTo>
                  <a:pt x="4628129" y="6857999"/>
                </a:lnTo>
                <a:lnTo>
                  <a:pt x="4734519" y="6819371"/>
                </a:lnTo>
                <a:cubicBezTo>
                  <a:pt x="4938119" y="6741181"/>
                  <a:pt x="5132935" y="6652933"/>
                  <a:pt x="5315781" y="6551721"/>
                </a:cubicBezTo>
                <a:cubicBezTo>
                  <a:pt x="6619811" y="5830059"/>
                  <a:pt x="6364610" y="4934281"/>
                  <a:pt x="6058656" y="3948664"/>
                </a:cubicBezTo>
                <a:cubicBezTo>
                  <a:pt x="5601502" y="2476708"/>
                  <a:pt x="4958009" y="1222984"/>
                  <a:pt x="2540911" y="827627"/>
                </a:cubicBezTo>
                <a:cubicBezTo>
                  <a:pt x="1760946" y="699982"/>
                  <a:pt x="986522" y="591203"/>
                  <a:pt x="238021" y="541759"/>
                </a:cubicBezTo>
                <a:lnTo>
                  <a:pt x="0" y="529223"/>
                </a:lnTo>
                <a:close/>
              </a:path>
            </a:pathLst>
          </a:custGeom>
        </p:spPr>
      </p:pic>
      <p:sp>
        <p:nvSpPr>
          <p:cNvPr id="2" name="Title 1">
            <a:extLst>
              <a:ext uri="{FF2B5EF4-FFF2-40B4-BE49-F238E27FC236}">
                <a16:creationId xmlns:a16="http://schemas.microsoft.com/office/drawing/2014/main" id="{A065AD47-5479-14E4-B4FD-2FFB23578838}"/>
              </a:ext>
            </a:extLst>
          </p:cNvPr>
          <p:cNvSpPr>
            <a:spLocks noGrp="1"/>
          </p:cNvSpPr>
          <p:nvPr>
            <p:ph type="ctrTitle"/>
          </p:nvPr>
        </p:nvSpPr>
        <p:spPr>
          <a:xfrm>
            <a:off x="0" y="1407611"/>
            <a:ext cx="9785131" cy="2286000"/>
          </a:xfrm>
        </p:spPr>
        <p:txBody>
          <a:bodyPr>
            <a:normAutofit/>
          </a:bodyPr>
          <a:lstStyle/>
          <a:p>
            <a:pPr algn="l"/>
            <a:r>
              <a:rPr lang="tr-TR" dirty="0">
                <a:solidFill>
                  <a:schemeClr val="accent3">
                    <a:lumMod val="75000"/>
                  </a:schemeClr>
                </a:solidFill>
              </a:rPr>
              <a:t>Gen AI </a:t>
            </a:r>
            <a:r>
              <a:rPr lang="tr-TR" dirty="0" err="1">
                <a:solidFill>
                  <a:schemeClr val="accent3">
                    <a:lumMod val="75000"/>
                  </a:schemeClr>
                </a:solidFill>
              </a:rPr>
              <a:t>with</a:t>
            </a:r>
            <a:r>
              <a:rPr lang="tr-TR" dirty="0">
                <a:solidFill>
                  <a:schemeClr val="accent3">
                    <a:lumMod val="75000"/>
                  </a:schemeClr>
                </a:solidFill>
              </a:rPr>
              <a:t> Java </a:t>
            </a:r>
            <a:r>
              <a:rPr lang="tr-TR" dirty="0" err="1">
                <a:solidFill>
                  <a:schemeClr val="accent3">
                    <a:lumMod val="75000"/>
                  </a:schemeClr>
                </a:solidFill>
              </a:rPr>
              <a:t>and</a:t>
            </a:r>
            <a:r>
              <a:rPr lang="tr-TR" dirty="0">
                <a:solidFill>
                  <a:schemeClr val="accent3">
                    <a:lumMod val="75000"/>
                  </a:schemeClr>
                </a:solidFill>
              </a:rPr>
              <a:t> Spring</a:t>
            </a:r>
          </a:p>
        </p:txBody>
      </p:sp>
      <p:sp>
        <p:nvSpPr>
          <p:cNvPr id="3" name="Subtitle 2">
            <a:extLst>
              <a:ext uri="{FF2B5EF4-FFF2-40B4-BE49-F238E27FC236}">
                <a16:creationId xmlns:a16="http://schemas.microsoft.com/office/drawing/2014/main" id="{CF367FAE-7EB5-6617-48D0-92BD338C9105}"/>
              </a:ext>
            </a:extLst>
          </p:cNvPr>
          <p:cNvSpPr>
            <a:spLocks noGrp="1"/>
          </p:cNvSpPr>
          <p:nvPr>
            <p:ph type="subTitle" idx="1"/>
          </p:nvPr>
        </p:nvSpPr>
        <p:spPr>
          <a:xfrm>
            <a:off x="218629" y="3766202"/>
            <a:ext cx="4572000" cy="1524000"/>
          </a:xfrm>
        </p:spPr>
        <p:txBody>
          <a:bodyPr anchor="b">
            <a:normAutofit/>
          </a:bodyPr>
          <a:lstStyle/>
          <a:p>
            <a:pPr algn="l"/>
            <a:r>
              <a:rPr lang="tr-TR" dirty="0" err="1">
                <a:latin typeface="Gabriola" pitchFamily="82" charset="0"/>
                <a:cs typeface="Apple Chancery" panose="03020702040506060504" pitchFamily="66" charset="-79"/>
              </a:rPr>
              <a:t>By</a:t>
            </a:r>
            <a:r>
              <a:rPr lang="tr-TR" dirty="0">
                <a:latin typeface="Gabriola" pitchFamily="82" charset="0"/>
                <a:cs typeface="Apple Chancery" panose="03020702040506060504" pitchFamily="66" charset="-79"/>
              </a:rPr>
              <a:t> Ali Gelenler</a:t>
            </a:r>
          </a:p>
        </p:txBody>
      </p:sp>
      <p:pic>
        <p:nvPicPr>
          <p:cNvPr id="5" name="Picture 4" descr="A person smiling for the camera&#10;&#10;Description automatically generated">
            <a:extLst>
              <a:ext uri="{FF2B5EF4-FFF2-40B4-BE49-F238E27FC236}">
                <a16:creationId xmlns:a16="http://schemas.microsoft.com/office/drawing/2014/main" id="{01A85EC1-0397-5B85-A96E-F4002E1AE0D3}"/>
              </a:ext>
            </a:extLst>
          </p:cNvPr>
          <p:cNvPicPr>
            <a:picLocks noChangeAspect="1"/>
          </p:cNvPicPr>
          <p:nvPr/>
        </p:nvPicPr>
        <p:blipFill>
          <a:blip r:embed="rId3"/>
          <a:stretch>
            <a:fillRect/>
          </a:stretch>
        </p:blipFill>
        <p:spPr>
          <a:xfrm>
            <a:off x="2093382" y="4158969"/>
            <a:ext cx="822493" cy="1131233"/>
          </a:xfrm>
          <a:prstGeom prst="rect">
            <a:avLst/>
          </a:prstGeom>
          <a:effectLst>
            <a:glow rad="63500">
              <a:srgbClr val="002060">
                <a:alpha val="40000"/>
              </a:srgbClr>
            </a:glow>
            <a:softEdge rad="50800"/>
          </a:effectLst>
        </p:spPr>
      </p:pic>
    </p:spTree>
    <p:extLst>
      <p:ext uri="{BB962C8B-B14F-4D97-AF65-F5344CB8AC3E}">
        <p14:creationId xmlns:p14="http://schemas.microsoft.com/office/powerpoint/2010/main" val="1728711404"/>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Frame</Template>
  <TotalTime>14535</TotalTime>
  <Words>302</Words>
  <Application>Microsoft Macintosh PowerPoint</Application>
  <PresentationFormat>Widescreen</PresentationFormat>
  <Paragraphs>44</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Corbel</vt:lpstr>
      <vt:lpstr>Gabriola</vt:lpstr>
      <vt:lpstr>Wingdings</vt:lpstr>
      <vt:lpstr>Wingdings 2</vt:lpstr>
      <vt:lpstr>Frame</vt:lpstr>
      <vt:lpstr>Gen AI with Java and Spring</vt:lpstr>
      <vt:lpstr>PowerPoint Presentation</vt:lpstr>
      <vt:lpstr>PowerPoint Presentation</vt:lpstr>
      <vt:lpstr>PowerPoint Presentation</vt:lpstr>
      <vt:lpstr>Gen AI with Java and Spring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 AI with Java and Spring</dc:title>
  <dc:creator>eaalgorithm@gmail.com</dc:creator>
  <cp:lastModifiedBy>eaalgorithm@gmail.com</cp:lastModifiedBy>
  <cp:revision>66</cp:revision>
  <dcterms:created xsi:type="dcterms:W3CDTF">2025-10-29T22:10:39Z</dcterms:created>
  <dcterms:modified xsi:type="dcterms:W3CDTF">2026-02-25T11:51:58Z</dcterms:modified>
</cp:coreProperties>
</file>