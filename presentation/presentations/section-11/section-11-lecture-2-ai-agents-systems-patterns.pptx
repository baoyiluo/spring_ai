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67" r:id="rId2"/>
    <p:sldId id="266" r:id="rId3"/>
    <p:sldId id="268" r:id="rId4"/>
    <p:sldId id="270" r:id="rId5"/>
    <p:sldId id="26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36"/>
    <p:restoredTop sz="94719"/>
  </p:normalViewPr>
  <p:slideViewPr>
    <p:cSldViewPr snapToGrid="0">
      <p:cViewPr varScale="1">
        <p:scale>
          <a:sx n="91" d="100"/>
          <a:sy n="91" d="100"/>
        </p:scale>
        <p:origin x="264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2/25/26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2/25/26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2/25/26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2/25/26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2/25/26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402506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79" y="1660821"/>
            <a:ext cx="11538605" cy="4556685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Agents: </a:t>
            </a:r>
            <a:r>
              <a:rPr lang="en-GB" sz="1800" dirty="0">
                <a:solidFill>
                  <a:srgbClr val="002060"/>
                </a:solidFill>
              </a:rPr>
              <a:t>Systems where LLMs dynamically direct their own processes and tool usage (e.g., software engineering agent, research assistant agent)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Reasoning and adaptivity -&gt; open-ended dynamic problems 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Workflows: </a:t>
            </a:r>
            <a:r>
              <a:rPr lang="en-GB" sz="1800" dirty="0">
                <a:solidFill>
                  <a:srgbClr val="002060"/>
                </a:solidFill>
              </a:rPr>
              <a:t>Systems where LLMs and tools are orchestrated through predefined steps (e.g., prescriptive system, customer support ticket triage) 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Order and safety -&gt; predictable business processes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Hybrid Approach: </a:t>
            </a:r>
            <a:r>
              <a:rPr lang="en-GB" sz="1800" dirty="0">
                <a:solidFill>
                  <a:srgbClr val="002060"/>
                </a:solidFill>
              </a:rPr>
              <a:t>Combining workflows with autonomous agents 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Example: Customer Support </a:t>
            </a:r>
            <a:r>
              <a:rPr lang="en-GB" sz="1800" dirty="0" err="1">
                <a:solidFill>
                  <a:srgbClr val="002060"/>
                </a:solidFill>
              </a:rPr>
              <a:t>Copilot</a:t>
            </a:r>
            <a:endParaRPr lang="en-GB" sz="1800" dirty="0">
              <a:solidFill>
                <a:srgbClr val="002060"/>
              </a:solidFill>
            </a:endParaRPr>
          </a:p>
          <a:p>
            <a:pPr marL="1200150" lvl="2" indent="-285750" algn="l">
              <a:buClr>
                <a:srgbClr val="002060"/>
              </a:buClr>
              <a:buFont typeface="Wingdings" pitchFamily="2" charset="2"/>
              <a:buChar char="ü"/>
            </a:pPr>
            <a:r>
              <a:rPr lang="en-GB" sz="1800" dirty="0">
                <a:solidFill>
                  <a:srgbClr val="002060"/>
                </a:solidFill>
              </a:rPr>
              <a:t> Workflow layer -&gt; intake, authentication, routing, logging</a:t>
            </a:r>
          </a:p>
          <a:p>
            <a:pPr marL="1200150" lvl="2" indent="-285750" algn="l">
              <a:buClr>
                <a:srgbClr val="002060"/>
              </a:buClr>
              <a:buFont typeface="Wingdings" pitchFamily="2" charset="2"/>
              <a:buChar char="ü"/>
            </a:pPr>
            <a:r>
              <a:rPr lang="en-GB" sz="1800" dirty="0">
                <a:solidFill>
                  <a:srgbClr val="002060"/>
                </a:solidFill>
              </a:rPr>
              <a:t> Autonomous sub-agent -&gt; investigates issue, searches knowledge base, drafts solution, asks follow-ups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AI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Agents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Agentic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Systems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15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80" y="1747573"/>
            <a:ext cx="10730580" cy="4556685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Core loops: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 err="1">
                <a:solidFill>
                  <a:srgbClr val="002060"/>
                </a:solidFill>
              </a:rPr>
              <a:t>ReAct</a:t>
            </a:r>
            <a:r>
              <a:rPr lang="en-GB" sz="1800" dirty="0">
                <a:solidFill>
                  <a:srgbClr val="002060"/>
                </a:solidFill>
              </a:rPr>
              <a:t> (think → act → observe)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Plan-then-act (planner + executor)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Reflexion/self-critique steps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Router (choose model/tool per task)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Multi-agent handoffs (specialists)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AI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Agents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Agentic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Patterns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56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79" y="1747573"/>
            <a:ext cx="11784789" cy="4556685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  <a:effectLst/>
              </a:rPr>
              <a:t> Hallucinations / domain gaps / stale info:</a:t>
            </a:r>
            <a:r>
              <a:rPr lang="en-GB" sz="1800" dirty="0">
                <a:solidFill>
                  <a:srgbClr val="002060"/>
                </a:solidFill>
                <a:effectLst/>
              </a:rPr>
              <a:t> Agent uses RAG first, then tool calls; enforce citations and schema checks</a:t>
            </a:r>
          </a:p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  <a:effectLst/>
              </a:rPr>
              <a:t> Weak reasoning:</a:t>
            </a:r>
            <a:r>
              <a:rPr lang="en-GB" sz="1800" dirty="0">
                <a:solidFill>
                  <a:srgbClr val="002060"/>
                </a:solidFill>
                <a:effectLst/>
              </a:rPr>
              <a:t> planner + verifier step, calculators/solvers as tools</a:t>
            </a:r>
          </a:p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  <a:effectLst/>
              </a:rPr>
              <a:t> Non-determinism:</a:t>
            </a:r>
            <a:r>
              <a:rPr lang="en-GB" sz="1800" dirty="0">
                <a:solidFill>
                  <a:srgbClr val="002060"/>
                </a:solidFill>
                <a:effectLst/>
              </a:rPr>
              <a:t> lower temperature, schema constraints, step caps, deterministic post-checks</a:t>
            </a:r>
          </a:p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  <a:effectLst/>
              </a:rPr>
              <a:t> Prompt injection:</a:t>
            </a:r>
            <a:r>
              <a:rPr lang="en-GB" sz="1800" dirty="0">
                <a:solidFill>
                  <a:srgbClr val="002060"/>
                </a:solidFill>
                <a:effectLst/>
              </a:rPr>
              <a:t> isolate untrusted inputs, tool </a:t>
            </a:r>
            <a:r>
              <a:rPr lang="en-GB" sz="1800" dirty="0" err="1">
                <a:solidFill>
                  <a:srgbClr val="002060"/>
                </a:solidFill>
                <a:effectLst/>
              </a:rPr>
              <a:t>allowlists</a:t>
            </a:r>
            <a:r>
              <a:rPr lang="en-GB" sz="1800" dirty="0">
                <a:solidFill>
                  <a:srgbClr val="002060"/>
                </a:solidFill>
                <a:effectLst/>
              </a:rPr>
              <a:t>, “confirm before dangerous ops.”</a:t>
            </a:r>
          </a:p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  <a:effectLst/>
              </a:rPr>
              <a:t> Cost/latency:</a:t>
            </a:r>
            <a:r>
              <a:rPr lang="en-GB" sz="1800" dirty="0">
                <a:solidFill>
                  <a:srgbClr val="002060"/>
                </a:solidFill>
                <a:effectLst/>
              </a:rPr>
              <a:t> early-exit, small-model router, caching, parallel tool calls, streaming tokens</a:t>
            </a:r>
          </a:p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  <a:effectLst/>
              </a:rPr>
              <a:t> Privacy/compliance:</a:t>
            </a:r>
            <a:r>
              <a:rPr lang="en-GB" sz="1800" dirty="0">
                <a:solidFill>
                  <a:srgbClr val="002060"/>
                </a:solidFill>
                <a:effectLst/>
              </a:rPr>
              <a:t> PII redaction before observation, scoped memory, no-train flags, per-tool data minimization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Mapping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Limitations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&amp;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Mitigations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06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402104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14628</TotalTime>
  <Words>277</Words>
  <Application>Microsoft Macintosh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71</cp:revision>
  <dcterms:created xsi:type="dcterms:W3CDTF">2025-10-29T22:10:39Z</dcterms:created>
  <dcterms:modified xsi:type="dcterms:W3CDTF">2026-02-25T13:42:22Z</dcterms:modified>
</cp:coreProperties>
</file>