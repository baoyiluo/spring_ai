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19"/>
  </p:normalViewPr>
  <p:slideViewPr>
    <p:cSldViewPr snapToGrid="0">
      <p:cViewPr varScale="1">
        <p:scale>
          <a:sx n="118" d="100"/>
          <a:sy n="118" d="100"/>
        </p:scale>
        <p:origin x="29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en-GB" sz="1800" dirty="0">
                <a:solidFill>
                  <a:srgbClr val="002060"/>
                </a:solidFill>
              </a:rPr>
              <a:t>Meeting Notes Summariser with Open AI API: Using one-shot prompting technique for a better response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en-GB" sz="1800" dirty="0">
                <a:solidFill>
                  <a:srgbClr val="002060"/>
                </a:solidFill>
              </a:rPr>
              <a:t>Code documentation with Google Gemini Vertex AI API: Using system message to give LLM a style and tone, and keep responses consistent by using it as a guardrail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en-GB" sz="1800" dirty="0">
                <a:solidFill>
                  <a:srgbClr val="002060"/>
                </a:solidFill>
              </a:rPr>
              <a:t>General summarisation: Using hugging face shared serverless API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en-GB" sz="1800" dirty="0">
                <a:solidFill>
                  <a:srgbClr val="002060"/>
                </a:solidFill>
              </a:rPr>
              <a:t>Programming helper: Using hugging face dedicated endpoint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en-GB" sz="1800" dirty="0">
                <a:solidFill>
                  <a:srgbClr val="002060"/>
                </a:solidFill>
              </a:rPr>
              <a:t>Email drafting assistant: Using </a:t>
            </a:r>
            <a:r>
              <a:rPr lang="en-GB" sz="1800" dirty="0" err="1">
                <a:solidFill>
                  <a:srgbClr val="002060"/>
                </a:solidFill>
              </a:rPr>
              <a:t>Ollama</a:t>
            </a:r>
            <a:r>
              <a:rPr lang="en-GB" sz="1800" dirty="0">
                <a:solidFill>
                  <a:srgbClr val="002060"/>
                </a:solidFill>
              </a:rPr>
              <a:t> with local LLM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en-GB" sz="1800" dirty="0" err="1">
                <a:solidFill>
                  <a:srgbClr val="002060"/>
                </a:solidFill>
              </a:rPr>
              <a:t>Linkedin</a:t>
            </a:r>
            <a:r>
              <a:rPr lang="en-GB" sz="1800" dirty="0">
                <a:solidFill>
                  <a:srgbClr val="002060"/>
                </a:solidFill>
              </a:rPr>
              <a:t> post generator: Using Docker Model Runner</a:t>
            </a: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2 (Java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Spring AI)</a:t>
            </a: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419157"/>
            <a:ext cx="10668000" cy="1524000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2060"/>
              </a:buClr>
              <a:buFont typeface="+mj-lt"/>
              <a:buAutoNum type="arabicParenR" startAt="7"/>
            </a:pPr>
            <a:r>
              <a:rPr lang="en-GB" dirty="0">
                <a:solidFill>
                  <a:srgbClr val="002060"/>
                </a:solidFill>
              </a:rPr>
              <a:t>Chain of Thought Prompting </a:t>
            </a:r>
          </a:p>
          <a:p>
            <a:pPr marL="342900" indent="-342900">
              <a:buClr>
                <a:srgbClr val="002060"/>
              </a:buClr>
              <a:buFont typeface="+mj-lt"/>
              <a:buAutoNum type="arabicParenR" startAt="7"/>
            </a:pPr>
            <a:r>
              <a:rPr lang="en-GB" dirty="0">
                <a:solidFill>
                  <a:srgbClr val="002060"/>
                </a:solidFill>
              </a:rPr>
              <a:t>Updating the previous use cases with Prompt engineering best practices</a:t>
            </a:r>
            <a:endParaRPr lang="tr-TR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4 (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Engineering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268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419157"/>
            <a:ext cx="10949444" cy="2741422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 startAt="9"/>
            </a:pPr>
            <a:r>
              <a:rPr lang="en-GB" dirty="0">
                <a:solidFill>
                  <a:srgbClr val="002060"/>
                </a:solidFill>
              </a:rPr>
              <a:t>Prompt hacking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9"/>
            </a:pPr>
            <a:r>
              <a:rPr lang="nl-NL" dirty="0" err="1">
                <a:solidFill>
                  <a:srgbClr val="002060"/>
                </a:solidFill>
              </a:rPr>
              <a:t>Jailbreaking</a:t>
            </a:r>
            <a:endParaRPr lang="nl-NL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9"/>
            </a:pP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Prompt 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leaking</a:t>
            </a:r>
            <a:endParaRPr lang="nl-NL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9"/>
            </a:pP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Advanced 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hacking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: Dictionary attack 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and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 sandwich 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defence</a:t>
            </a:r>
            <a:endParaRPr lang="tr-TR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5 (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Hacking)</a:t>
            </a:r>
          </a:p>
        </p:txBody>
      </p:sp>
    </p:spTree>
    <p:extLst>
      <p:ext uri="{BB962C8B-B14F-4D97-AF65-F5344CB8AC3E}">
        <p14:creationId xmlns:p14="http://schemas.microsoft.com/office/powerpoint/2010/main" val="276816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42" y="2198011"/>
            <a:ext cx="10949444" cy="2741422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r>
              <a:rPr lang="en-GB" dirty="0">
                <a:solidFill>
                  <a:srgbClr val="002060"/>
                </a:solidFill>
              </a:rPr>
              <a:t>Order Status Helper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endParaRPr lang="en-GB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endParaRPr lang="nl-NL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r>
              <a:rPr lang="nl-NL" dirty="0">
                <a:solidFill>
                  <a:srgbClr val="002060"/>
                </a:solidFill>
              </a:rPr>
              <a:t>Visual Compliance </a:t>
            </a:r>
            <a:r>
              <a:rPr lang="nl-NL" dirty="0" err="1">
                <a:solidFill>
                  <a:srgbClr val="002060"/>
                </a:solidFill>
              </a:rPr>
              <a:t>Checking</a:t>
            </a:r>
            <a:r>
              <a:rPr lang="nl-NL" dirty="0">
                <a:solidFill>
                  <a:srgbClr val="002060"/>
                </a:solidFill>
              </a:rPr>
              <a:t> (Image-</a:t>
            </a:r>
            <a:r>
              <a:rPr lang="nl-NL" dirty="0" err="1">
                <a:solidFill>
                  <a:srgbClr val="002060"/>
                </a:solidFill>
              </a:rPr>
              <a:t>to</a:t>
            </a:r>
            <a:r>
              <a:rPr lang="nl-NL" dirty="0">
                <a:solidFill>
                  <a:srgbClr val="002060"/>
                </a:solidFill>
              </a:rPr>
              <a:t>-</a:t>
            </a:r>
            <a:r>
              <a:rPr lang="nl-NL" dirty="0" err="1">
                <a:solidFill>
                  <a:srgbClr val="002060"/>
                </a:solidFill>
              </a:rPr>
              <a:t>Text</a:t>
            </a:r>
            <a:r>
              <a:rPr lang="nl-NL" dirty="0">
                <a:solidFill>
                  <a:srgbClr val="002060"/>
                </a:solidFill>
              </a:rPr>
              <a:t>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Marketing Asset Generator (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Text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-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to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-Image)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Smart Meeting Assistant (Speech-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to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-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Text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Ticket Status Voice 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Notifier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 (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Text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-</a:t>
            </a:r>
            <a:r>
              <a:rPr lang="nl-NL" dirty="0" err="1">
                <a:solidFill>
                  <a:srgbClr val="002060"/>
                </a:solidFill>
                <a:cs typeface="Aharoni" panose="02010803020104030203" pitchFamily="2" charset="-79"/>
              </a:rPr>
              <a:t>to</a:t>
            </a:r>
            <a:r>
              <a:rPr lang="nl-NL" dirty="0">
                <a:solidFill>
                  <a:srgbClr val="002060"/>
                </a:solidFill>
                <a:cs typeface="Aharoni" panose="02010803020104030203" pitchFamily="2" charset="-79"/>
              </a:rPr>
              <a:t>-Speech)</a:t>
            </a:r>
            <a:endParaRPr lang="tr-TR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342900" indent="-342900">
              <a:buClr>
                <a:srgbClr val="002060"/>
              </a:buClr>
              <a:buFont typeface="+mj-lt"/>
              <a:buAutoNum type="arabicParenR" startAt="13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13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 startAt="13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21021" y="-107811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7 (Chat Memory)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55999-A1AA-021F-D7E2-FE49D1019881}"/>
              </a:ext>
            </a:extLst>
          </p:cNvPr>
          <p:cNvSpPr txBox="1">
            <a:spLocks/>
          </p:cNvSpPr>
          <p:nvPr/>
        </p:nvSpPr>
        <p:spPr>
          <a:xfrm>
            <a:off x="21020" y="10351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8 (Multi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Modality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552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33" y="1757775"/>
            <a:ext cx="10949444" cy="2741422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r>
              <a:rPr lang="en-GB" dirty="0">
                <a:solidFill>
                  <a:srgbClr val="002060"/>
                </a:solidFill>
              </a:rPr>
              <a:t>IT support (In-</a:t>
            </a:r>
            <a:r>
              <a:rPr lang="en-GB" dirty="0" err="1">
                <a:solidFill>
                  <a:srgbClr val="002060"/>
                </a:solidFill>
              </a:rPr>
              <a:t>promp</a:t>
            </a:r>
            <a:r>
              <a:rPr lang="en-GB" dirty="0">
                <a:solidFill>
                  <a:srgbClr val="002060"/>
                </a:solidFill>
              </a:rPr>
              <a:t> context)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r>
              <a:rPr lang="en-GB" dirty="0">
                <a:solidFill>
                  <a:srgbClr val="002060"/>
                </a:solidFill>
              </a:rPr>
              <a:t>Mini Employee Handbook (Simple RAG flow)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r>
              <a:rPr lang="en-GB" dirty="0">
                <a:solidFill>
                  <a:srgbClr val="002060"/>
                </a:solidFill>
              </a:rPr>
              <a:t>Q/A over Internal Docs (Advanced </a:t>
            </a:r>
            <a:r>
              <a:rPr lang="en-GB">
                <a:solidFill>
                  <a:srgbClr val="002060"/>
                </a:solidFill>
              </a:rPr>
              <a:t>RAG flow)</a:t>
            </a:r>
            <a:endParaRPr lang="en-GB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endParaRPr lang="en-GB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endParaRPr lang="en-GB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r>
              <a:rPr lang="en-GB" dirty="0">
                <a:solidFill>
                  <a:srgbClr val="002060"/>
                </a:solidFill>
                <a:cs typeface="Aharoni" panose="02010803020104030203" pitchFamily="2" charset="-79"/>
              </a:rPr>
              <a:t>Finding security breaches from Architectural Diagram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Autonomous vs Chained workflow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Diagram-extract tool call with vision model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Internal posture service tool call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RAG tool call with similarity search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Web search tool call to </a:t>
            </a:r>
            <a:r>
              <a:rPr lang="en-GB" sz="1800" dirty="0" err="1">
                <a:solidFill>
                  <a:srgbClr val="002060"/>
                </a:solidFill>
              </a:rPr>
              <a:t>Owasp</a:t>
            </a:r>
            <a:r>
              <a:rPr lang="en-GB" sz="1800" dirty="0">
                <a:solidFill>
                  <a:srgbClr val="002060"/>
                </a:solidFill>
              </a:rPr>
              <a:t>/NIST/CWE websites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Final report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18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 startAt="18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60133" y="-528225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10 (RAG)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55999-A1AA-021F-D7E2-FE49D1019881}"/>
              </a:ext>
            </a:extLst>
          </p:cNvPr>
          <p:cNvSpPr txBox="1">
            <a:spLocks/>
          </p:cNvSpPr>
          <p:nvPr/>
        </p:nvSpPr>
        <p:spPr>
          <a:xfrm>
            <a:off x="60132" y="1613496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11 (AI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Agents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926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33" y="2286000"/>
            <a:ext cx="10949444" cy="2741422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 startAt="22"/>
            </a:pPr>
            <a:r>
              <a:rPr lang="en-GB" dirty="0">
                <a:solidFill>
                  <a:srgbClr val="002060"/>
                </a:solidFill>
              </a:rPr>
              <a:t>Replace internal posture service tool call with MCP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 startAt="22"/>
            </a:pPr>
            <a:endParaRPr lang="en-GB" dirty="0">
              <a:solidFill>
                <a:srgbClr val="002060"/>
              </a:solidFill>
            </a:endParaRPr>
          </a:p>
          <a:p>
            <a:pPr>
              <a:buClr>
                <a:srgbClr val="002060"/>
              </a:buClr>
            </a:pPr>
            <a:endParaRPr lang="en-GB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 startAt="23"/>
            </a:pPr>
            <a:r>
              <a:rPr lang="en-GB" dirty="0">
                <a:solidFill>
                  <a:srgbClr val="002060"/>
                </a:solidFill>
                <a:cs typeface="Aharoni" panose="02010803020104030203" pitchFamily="2" charset="-79"/>
              </a:rPr>
              <a:t>Adding observability to AI Agent and RAG flows</a:t>
            </a:r>
          </a:p>
          <a:p>
            <a:pPr>
              <a:buClr>
                <a:srgbClr val="002060"/>
              </a:buClr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 startAt="18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60133" y="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12 (MCP Server/Client)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55999-A1AA-021F-D7E2-FE49D1019881}"/>
              </a:ext>
            </a:extLst>
          </p:cNvPr>
          <p:cNvSpPr txBox="1">
            <a:spLocks/>
          </p:cNvSpPr>
          <p:nvPr/>
        </p:nvSpPr>
        <p:spPr>
          <a:xfrm>
            <a:off x="0" y="1407611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13 (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Observability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352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1906</TotalTime>
  <Words>317</Words>
  <Application>Microsoft Macintosh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18</cp:revision>
  <dcterms:created xsi:type="dcterms:W3CDTF">2025-10-29T22:10:39Z</dcterms:created>
  <dcterms:modified xsi:type="dcterms:W3CDTF">2026-03-20T09:20:16Z</dcterms:modified>
</cp:coreProperties>
</file>